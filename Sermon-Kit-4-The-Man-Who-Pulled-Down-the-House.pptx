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kit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0"/>
            <a:ext cx="457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2376" y="493776"/>
            <a:ext cx="619048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8A15E"/>
                </a:solidFill>
                <a:latin typeface="Candara"/>
              </a:rPr>
              <a:t>SILENCED SAINTS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22960"/>
            <a:ext cx="61904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D8C5A1"/>
                </a:solidFill>
                <a:latin typeface="Candara"/>
              </a:rPr>
              <a:t>PREACH THE FORGOTTEN · SERMON KIT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755648"/>
            <a:ext cx="6766560" cy="2569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>
                <a:solidFill>
                  <a:srgbClr val="F4ECDC"/>
                </a:solidFill>
                <a:latin typeface="Georgia"/>
              </a:rPr>
              <a:t>The Man Who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>
                <a:solidFill>
                  <a:srgbClr val="F4ECDC"/>
                </a:solidFill>
                <a:latin typeface="Georgia"/>
              </a:rPr>
              <a:t>Pulled Down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>
                <a:solidFill>
                  <a:srgbClr val="F4ECDC"/>
                </a:solidFill>
                <a:latin typeface="Georgia"/>
              </a:rPr>
              <a:t>the House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4517136"/>
            <a:ext cx="619048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C8A15E"/>
                </a:solidFill>
                <a:latin typeface="Georgia"/>
              </a:rPr>
              <a:t>Samson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5084064"/>
            <a:ext cx="619048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4ECDC"/>
                </a:solidFill>
                <a:latin typeface="Candara"/>
              </a:rPr>
              <a:t>Judges 16:4–31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5870448"/>
            <a:ext cx="61904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9AB90"/>
                </a:solidFill>
                <a:latin typeface="Candara"/>
              </a:rPr>
              <a:t>A SERMON FOR THE PULPIT · 55–60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6153912"/>
            <a:ext cx="61904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F9AAB"/>
                </a:solidFill>
                <a:latin typeface="Candara"/>
              </a:rPr>
              <a:t>FIRST EDITION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01 · 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JUDGES 16:4–31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1673352"/>
            <a:ext cx="10744200" cy="2496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200" b="0">
                <a:solidFill>
                  <a:srgbClr val="F4ECDC"/>
                </a:solidFill>
                <a:latin typeface="Georgia"/>
              </a:rPr>
              <a:t>Samson pulled down the house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200" b="0">
                <a:solidFill>
                  <a:srgbClr val="F4ECDC"/>
                </a:solidFill>
                <a:latin typeface="Georgia"/>
              </a:rPr>
              <a:t>and died in the rubble.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200" b="0">
                <a:solidFill>
                  <a:srgbClr val="F4ECDC"/>
                </a:solidFill>
                <a:latin typeface="Georgia"/>
              </a:rPr>
              <a:t>Jesus rose from his.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4398264"/>
            <a:ext cx="780897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9AB90"/>
                </a:solidFill>
                <a:latin typeface="Candara"/>
              </a:rPr>
              <a:t>Strength was never the point. The source was.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02 · THE GIFT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JUDGES 13–15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914400"/>
            <a:ext cx="10744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4ECDC"/>
                </a:solidFill>
                <a:latin typeface="Georgia"/>
              </a:rPr>
              <a:t>Set apart before he was born.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965960"/>
            <a:ext cx="24780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249424"/>
            <a:ext cx="247802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4ECDC"/>
                </a:solidFill>
                <a:latin typeface="Georgia"/>
              </a:rPr>
              <a:t>The calling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953512"/>
            <a:ext cx="247802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Nazirite from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the womb.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3864" y="1965960"/>
            <a:ext cx="24780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3864" y="2249424"/>
            <a:ext cx="247802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4ECDC"/>
                </a:solidFill>
                <a:latin typeface="Georgia"/>
              </a:rPr>
              <a:t>The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3864" y="2953512"/>
            <a:ext cx="247802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Uncut hair.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A visible vow.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965960"/>
            <a:ext cx="24780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2249424"/>
            <a:ext cx="247802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4ECDC"/>
                </a:solidFill>
                <a:latin typeface="Georgia"/>
              </a:rPr>
              <a:t>The 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2953512"/>
            <a:ext cx="247802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The Spirit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of the LORD.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1965960"/>
            <a:ext cx="24780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249424"/>
            <a:ext cx="247802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4ECDC"/>
                </a:solidFill>
                <a:latin typeface="Georgia"/>
              </a:rPr>
              <a:t>The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953512"/>
            <a:ext cx="247802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Right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his own eyes.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" y="4288536"/>
            <a:ext cx="10744200" cy="1216152"/>
          </a:xfrm>
          <a:prstGeom prst="rect">
            <a:avLst/>
          </a:prstGeom>
          <a:solidFill>
            <a:srgbClr val="F4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507992"/>
            <a:ext cx="1013155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6233A"/>
                </a:solidFill>
                <a:latin typeface="Georgia"/>
              </a:rPr>
              <a:t>The gift was real.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6233A"/>
                </a:solidFill>
                <a:latin typeface="Georgia"/>
              </a:rPr>
              <a:t>The Giver was forgotten.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" y="5733288"/>
            <a:ext cx="7808975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A15E"/>
                </a:solidFill>
                <a:latin typeface="Candara"/>
              </a:rPr>
              <a:t>The sign is not the source.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03 · THE SECRET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JUDGES 16:4–17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914400"/>
            <a:ext cx="10744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4ECDC"/>
                </a:solidFill>
                <a:latin typeface="Georgia"/>
              </a:rPr>
              <a:t>Three lies and one truth.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810512"/>
            <a:ext cx="34290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57400"/>
            <a:ext cx="34290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8C5A1"/>
                </a:solidFill>
                <a:latin typeface="Candara"/>
              </a:rPr>
              <a:t>JUDGES 16:7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340864"/>
            <a:ext cx="34290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4ECDC"/>
                </a:solidFill>
                <a:latin typeface="Georgia"/>
              </a:rPr>
              <a:t>Seven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C8A15E"/>
                </a:solidFill>
                <a:latin typeface="Georgia"/>
              </a:rPr>
              <a:t>bowstrings.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730752"/>
            <a:ext cx="34290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He snaps them like thread.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9976" y="1810512"/>
            <a:ext cx="34290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9976" y="2057400"/>
            <a:ext cx="34290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8C5A1"/>
                </a:solidFill>
                <a:latin typeface="Candara"/>
              </a:rPr>
              <a:t>JUDGES 16:11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9976" y="2340864"/>
            <a:ext cx="34290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4ECDC"/>
                </a:solidFill>
                <a:latin typeface="Georgia"/>
              </a:rPr>
              <a:t>New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C8A15E"/>
                </a:solidFill>
                <a:latin typeface="Georgia"/>
              </a:rPr>
              <a:t>ropes.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9976" y="3730752"/>
            <a:ext cx="34290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He breaks them like thread.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810512"/>
            <a:ext cx="34290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7575" y="2057400"/>
            <a:ext cx="34290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8C5A1"/>
                </a:solidFill>
                <a:latin typeface="Candara"/>
              </a:rPr>
              <a:t>JUDGES 16:17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5" y="2340864"/>
            <a:ext cx="34290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4ECDC"/>
                </a:solidFill>
                <a:latin typeface="Georgia"/>
              </a:rPr>
              <a:t>All his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C8A15E"/>
                </a:solidFill>
                <a:latin typeface="Georgia"/>
              </a:rPr>
              <a:t>heart.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730752"/>
            <a:ext cx="34290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He tells her the secret.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855464"/>
            <a:ext cx="10744200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4ECDC"/>
                </a:solidFill>
                <a:latin typeface="Georgia"/>
              </a:rPr>
              <a:t>He guarded the secret.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4ECDC"/>
                </a:solidFill>
                <a:latin typeface="Georgia"/>
              </a:rPr>
              <a:t>He forgot the Source.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04 · THE PRICE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JUDGES 16:5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914400"/>
            <a:ext cx="10744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4ECDC"/>
                </a:solidFill>
                <a:latin typeface="Georgia"/>
              </a:rPr>
              <a:t>A secret with a price tag.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719072"/>
            <a:ext cx="4572000" cy="285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1600" b="0">
                <a:solidFill>
                  <a:srgbClr val="C8A15E"/>
                </a:solidFill>
                <a:latin typeface="Georgia"/>
              </a:rPr>
              <a:t>5,500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0"/>
            <a:ext cx="43799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4ECDC"/>
                </a:solidFill>
                <a:latin typeface="Georgia"/>
              </a:rPr>
              <a:t>pieces of silver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84064"/>
            <a:ext cx="437997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9AB90"/>
                </a:solidFill>
                <a:latin typeface="Candara"/>
              </a:rPr>
              <a:t>five lords · 1,100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1810512"/>
            <a:ext cx="5751576" cy="1719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4ECDC"/>
                </a:solidFill>
                <a:latin typeface="Candara"/>
              </a:rPr>
              <a:t>The Philistines did not want Samson dead. They wanted to know where his strength came from. The price was not for his head. It was for his secret.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3712463"/>
            <a:ext cx="5751576" cy="1810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C8A15E"/>
                </a:solidFill>
                <a:latin typeface="Georgia"/>
              </a:rPr>
              <a:t>They did not want his head. They wanted his secret.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5806440"/>
            <a:ext cx="95280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9AB90"/>
                </a:solidFill>
                <a:latin typeface="Georgia"/>
              </a:rPr>
              <a:t>The secret was never in his hair. It was in the LORD.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05 · THE 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JUDGES 16:20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914400"/>
            <a:ext cx="10744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4ECDC"/>
                </a:solidFill>
                <a:latin typeface="Georgia"/>
              </a:rPr>
              <a:t>He did not know.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719072"/>
            <a:ext cx="5138928" cy="1719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4ECDC"/>
                </a:solidFill>
                <a:latin typeface="Georgia"/>
              </a:rPr>
              <a:t>“I will go out as at other times and shake myself free.” But he did not know that the LORD had left him.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3447288"/>
            <a:ext cx="51389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JUDGES 16:20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91072" y="1810512"/>
            <a:ext cx="518464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C8A15E"/>
                </a:solidFill>
                <a:latin typeface="Georgia"/>
              </a:rPr>
              <a:t>The old motions. The old assumption.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2971800"/>
            <a:ext cx="518464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9AB90"/>
                </a:solidFill>
                <a:latin typeface="Candara"/>
              </a:rPr>
              <a:t>He reached for the strength and found only his own arm. The source had gone.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" y="3712463"/>
            <a:ext cx="5184648" cy="1901952"/>
          </a:xfrm>
          <a:prstGeom prst="rect">
            <a:avLst/>
          </a:prstGeom>
          <a:solidFill>
            <a:srgbClr val="F4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941063"/>
            <a:ext cx="46451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A5836"/>
                </a:solidFill>
                <a:latin typeface="Candara"/>
              </a:rPr>
              <a:t>THE 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169663"/>
            <a:ext cx="2852928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0">
                <a:solidFill>
                  <a:srgbClr val="16233A"/>
                </a:solidFill>
                <a:latin typeface="Georgia"/>
              </a:rPr>
              <a:t>HAIR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349240"/>
            <a:ext cx="46451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A5836"/>
                </a:solidFill>
                <a:latin typeface="Candara"/>
              </a:rPr>
              <a:t>cut in the dark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3712463"/>
            <a:ext cx="5184648" cy="1901952"/>
          </a:xfrm>
          <a:prstGeom prst="rect">
            <a:avLst/>
          </a:prstGeom>
          <a:solidFill>
            <a:srgbClr val="F4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3941063"/>
            <a:ext cx="46451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A5836"/>
                </a:solidFill>
                <a:latin typeface="Candara"/>
              </a:rPr>
              <a:t>THE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4169663"/>
            <a:ext cx="2852928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0">
                <a:solidFill>
                  <a:srgbClr val="16233A"/>
                </a:solidFill>
                <a:latin typeface="Georgia"/>
              </a:rPr>
              <a:t>LORD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5349240"/>
            <a:ext cx="46451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A5836"/>
                </a:solidFill>
                <a:latin typeface="Candara"/>
              </a:rPr>
              <a:t>gone before he knew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5769864"/>
            <a:ext cx="10744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8C5A1"/>
                </a:solidFill>
                <a:latin typeface="Candara"/>
              </a:rPr>
              <a:t>The most dangerous sentence in the story: “as at other times.”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06 · THE COLLAPSE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JUDGES 16:30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1810512"/>
            <a:ext cx="107442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>
                <a:solidFill>
                  <a:srgbClr val="7F8B9F"/>
                </a:solidFill>
                <a:latin typeface="Georgia"/>
              </a:rPr>
              <a:t>The temple fell.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3044952"/>
            <a:ext cx="10744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>
                <a:solidFill>
                  <a:srgbClr val="C8A15E"/>
                </a:solidFill>
                <a:latin typeface="Georgia"/>
              </a:rPr>
              <a:t>So did he.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4663440"/>
            <a:ext cx="9052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9AB90"/>
                </a:solidFill>
                <a:latin typeface="Candara"/>
              </a:rPr>
              <a:t>He killed more in his death than in his life. It is a body count, not a trophy.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07 · THE GOSPEL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JOHN 2:19–22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" y="1143000"/>
            <a:ext cx="10744200" cy="2377440"/>
          </a:xfrm>
          <a:prstGeom prst="rect">
            <a:avLst/>
          </a:prstGeom>
          <a:solidFill>
            <a:srgbClr val="F4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27048"/>
            <a:ext cx="101315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16233A"/>
                </a:solidFill>
                <a:latin typeface="Georgia"/>
              </a:rPr>
              <a:t>“Destroy this temple, and in three days I will raise it up.”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87752"/>
            <a:ext cx="1013155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A5836"/>
                </a:solidFill>
                <a:latin typeface="Candara"/>
              </a:rPr>
              <a:t>JOHN 2:19–22</a:t>
            </a:r>
          </a:p>
        </p:txBody>
      </p:sp>
      <p:sp>
        <p:nvSpPr>
          <p:cNvPr id="7" name="Rectangle 6"/>
          <p:cNvSpPr/>
          <p:nvPr/>
        </p:nvSpPr>
        <p:spPr>
          <a:xfrm>
            <a:off x="9948672" y="1719072"/>
            <a:ext cx="73152" cy="2093976"/>
          </a:xfrm>
          <a:prstGeom prst="rect">
            <a:avLst/>
          </a:prstGeom>
          <a:solidFill>
            <a:srgbClr val="C8A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427464" y="2286000"/>
            <a:ext cx="1106424" cy="73152"/>
          </a:xfrm>
          <a:prstGeom prst="rect">
            <a:avLst/>
          </a:prstGeom>
          <a:solidFill>
            <a:srgbClr val="C8A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096512"/>
            <a:ext cx="10744200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Samson pulled down the house and died.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C8A15E"/>
                </a:solidFill>
                <a:latin typeface="Georgia"/>
              </a:rPr>
              <a:t>Jesus let his body be pulled down and rose.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5623560"/>
            <a:ext cx="905256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9AB90"/>
                </a:solidFill>
                <a:latin typeface="Candara"/>
              </a:rPr>
              <a:t>Samson is what we are. Jesus is what we need.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08 · THE TRUE TEMPLE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2 CORINTHIANS 12:9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" y="1143000"/>
            <a:ext cx="10744200" cy="2377440"/>
          </a:xfrm>
          <a:prstGeom prst="rect">
            <a:avLst/>
          </a:prstGeom>
          <a:solidFill>
            <a:srgbClr val="F4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27048"/>
            <a:ext cx="101315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16233A"/>
                </a:solidFill>
                <a:latin typeface="Georgia"/>
              </a:rPr>
              <a:t>“My grace is sufficient for you, for my power is made perfect in weakness.”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87752"/>
            <a:ext cx="1013155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A5836"/>
                </a:solidFill>
                <a:latin typeface="Candara"/>
              </a:rPr>
              <a:t>2 CORINTHIANS 12:9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4096512"/>
            <a:ext cx="10744200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The gospel does not recruit heroes.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C8A15E"/>
                </a:solidFill>
                <a:latin typeface="Georgia"/>
              </a:rPr>
              <a:t>It raises the dead.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5623560"/>
            <a:ext cx="905256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9AB90"/>
                </a:solidFill>
                <a:latin typeface="Candara"/>
              </a:rPr>
              <a:t>The strongest man died blind. The Son of God went into the dark and came out alive.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09 · THE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FOUR RESPONSES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914400"/>
            <a:ext cx="10744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4ECDC"/>
                </a:solidFill>
                <a:latin typeface="Georgia"/>
              </a:rPr>
              <a:t>What do you do with the strength?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810512"/>
            <a:ext cx="51023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57400"/>
            <a:ext cx="51023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Name the gift,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not the muscle.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008376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The Spirit was the source. Your strength is a gift to steward, not a self to worship.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4224" y="1810512"/>
            <a:ext cx="51023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4224" y="2057400"/>
            <a:ext cx="51023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Do not confuse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the 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4" y="3008376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Ministry, knowledge, and reputation are good. They are not the source.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813048"/>
            <a:ext cx="51023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059935"/>
            <a:ext cx="51023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Tell the truth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about your eyes.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5010912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You cannot see your own blind spots alone. Let someone close tell you the truth.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813048"/>
            <a:ext cx="51023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4059935"/>
            <a:ext cx="51023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Pray the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small prayer.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5010912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“Remember me” is enough. The thief on the cross prayed it too.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5907024"/>
            <a:ext cx="85770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C8A15E"/>
                </a:solidFill>
                <a:latin typeface="Georgia"/>
              </a:rPr>
              <a:t>The sign is not the source. The routine is not the relationship.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10 · THE INVITATION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JUDGES 16:28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1527048"/>
            <a:ext cx="10744200" cy="2093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>
                <a:solidFill>
                  <a:srgbClr val="F4ECDC"/>
                </a:solidFill>
                <a:latin typeface="Georgia"/>
              </a:rPr>
              <a:t>Come out of the dark.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3904487"/>
            <a:ext cx="87599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C8A15E"/>
                </a:solidFill>
                <a:latin typeface="Georgia"/>
              </a:rPr>
              <a:t>Not stronger. Not cleaner. Not with a plan. Just honest.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5024" y="5138928"/>
            <a:ext cx="9528048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4ECDC"/>
                </a:solidFill>
                <a:latin typeface="Candara"/>
              </a:rPr>
              <a:t>Samson died in the dark.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4ECDC"/>
                </a:solidFill>
                <a:latin typeface="Candara"/>
              </a:rPr>
              <a:t>Jesus rose in the 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kit-04.png"/>
          <p:cNvPicPr>
            <a:picLocks noChangeAspect="1"/>
          </p:cNvPicPr>
          <p:nvPr/>
        </p:nvPicPr>
        <p:blipFill>
          <a:blip r:embed="rId2"/>
          <a:srcRect l="31131" r="31131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1423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35024" y="493776"/>
            <a:ext cx="9528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8A15E"/>
                </a:solidFill>
                <a:latin typeface="Candara"/>
              </a:rPr>
              <a:t>SILENCED SAINTS · PREACH THE FORGOTTEN · SERMON KIT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5024" y="1673352"/>
            <a:ext cx="952804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0">
                <a:solidFill>
                  <a:srgbClr val="F4ECDC"/>
                </a:solidFill>
                <a:latin typeface="Georgia"/>
              </a:rPr>
              <a:t>The strongest man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0">
                <a:solidFill>
                  <a:srgbClr val="F4ECDC"/>
                </a:solidFill>
                <a:latin typeface="Georgia"/>
              </a:rPr>
              <a:t>died in the dark.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5024" y="4251960"/>
            <a:ext cx="952804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8A15E"/>
                </a:solidFill>
                <a:latin typeface="Georgia"/>
              </a:rPr>
              <a:t>The Son of God went in for him.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4956048"/>
            <a:ext cx="952804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4ECDC"/>
                </a:solidFill>
                <a:latin typeface="Candara"/>
              </a:rPr>
              <a:t>He came out alive. He is still calling people out of the dark.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5024" y="6153912"/>
            <a:ext cx="952804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F9AAB"/>
                </a:solidFill>
                <a:latin typeface="Candara"/>
              </a:rPr>
              <a:t>FIRST EDITION ·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Man Who Pulled Down the House — Sermon Kit 4: Samson</dc:title>
  <dc:subject>Sermon manuscript for Samson, Sermon Kit 4</dc:subject>
  <dc:creator>Silenced Saints</dc:creator>
  <cp:keywords>Samson, Judges 16, Delilah, strength and weakness, Dagon, Preach the Forgotten, Sermon Kit 4, preaching manuscript, Silenced Saints</cp:keywords>
  <dc:description>Editable preaching manuscript. ESV quotations. One-page outline and small-group guide sold separately in Sermon Kit 4.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Sermon slides</cp:category>
</cp:coreProperties>
</file>