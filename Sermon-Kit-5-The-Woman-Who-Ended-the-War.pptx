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727"/>
        </a:solidFill>
        <a:effectLst/>
      </p:bgPr>
    </p:bg>
    <p:spTree>
      <p:nvGrpSpPr>
        <p:cNvPr id="1" name=""/>
        <p:cNvGrpSpPr/>
        <p:nvPr/>
      </p:nvGrpSpPr>
      <p:grpSpPr/>
      <p:pic>
        <p:nvPicPr>
          <p:cNvPr id="2" name="Picture 1" descr="cover-kit-05.png"/>
          <p:cNvPicPr>
            <a:picLocks noChangeAspect="1"/>
          </p:cNvPicPr>
          <p:nvPr/>
        </p:nvPicPr>
        <p:blipFill>
          <a:blip r:embed="rId2"/>
          <a:stretch>
            <a:fillRect/>
          </a:stretch>
        </p:blipFill>
        <p:spPr>
          <a:xfrm>
            <a:off x="7616952" y="0"/>
            <a:ext cx="4572000" cy="6858000"/>
          </a:xfrm>
          <a:prstGeom prst="rect">
            <a:avLst/>
          </a:prstGeom>
        </p:spPr>
      </p:pic>
      <p:sp>
        <p:nvSpPr>
          <p:cNvPr id="3" name="TextBox 2"/>
          <p:cNvSpPr txBox="1"/>
          <p:nvPr/>
        </p:nvSpPr>
        <p:spPr>
          <a:xfrm>
            <a:off x="722376" y="493776"/>
            <a:ext cx="6190488" cy="265176"/>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C8A15E"/>
                </a:solidFill>
                <a:latin typeface="Candara"/>
              </a:rPr>
              <a:t>SILENCED SAINTS</a:t>
            </a:r>
          </a:p>
        </p:txBody>
      </p:sp>
      <p:sp>
        <p:nvSpPr>
          <p:cNvPr id="4" name="TextBox 3"/>
          <p:cNvSpPr txBox="1"/>
          <p:nvPr/>
        </p:nvSpPr>
        <p:spPr>
          <a:xfrm>
            <a:off x="722376" y="822960"/>
            <a:ext cx="6190488" cy="210312"/>
          </a:xfrm>
          <a:prstGeom prst="rect">
            <a:avLst/>
          </a:prstGeom>
          <a:noFill/>
        </p:spPr>
        <p:txBody>
          <a:bodyPr wrap="square" lIns="0" rIns="0" tIns="0" bIns="0" anchor="t">
            <a:spAutoFit/>
          </a:bodyPr>
          <a:lstStyle/>
          <a:p>
            <a:pPr algn="l">
              <a:lnSpc>
                <a:spcPct val="100000"/>
              </a:lnSpc>
              <a:spcBef>
                <a:spcPts val="0"/>
              </a:spcBef>
              <a:spcAft>
                <a:spcPts val="0"/>
              </a:spcAft>
            </a:pPr>
            <a:r>
              <a:rPr sz="950" b="0">
                <a:solidFill>
                  <a:srgbClr val="D8C5A1"/>
                </a:solidFill>
                <a:latin typeface="Candara"/>
              </a:rPr>
              <a:t>PREACH THE FORGOTTEN · SERMON KIT 5</a:t>
            </a:r>
          </a:p>
        </p:txBody>
      </p:sp>
      <p:sp>
        <p:nvSpPr>
          <p:cNvPr id="5" name="TextBox 4"/>
          <p:cNvSpPr txBox="1"/>
          <p:nvPr/>
        </p:nvSpPr>
        <p:spPr>
          <a:xfrm>
            <a:off x="704088" y="1755648"/>
            <a:ext cx="6766560" cy="2569464"/>
          </a:xfrm>
          <a:prstGeom prst="rect">
            <a:avLst/>
          </a:prstGeom>
          <a:noFill/>
        </p:spPr>
        <p:txBody>
          <a:bodyPr wrap="square" lIns="0" rIns="0" tIns="0" bIns="0" anchor="t">
            <a:spAutoFit/>
          </a:bodyPr>
          <a:lstStyle/>
          <a:p>
            <a:pPr algn="l">
              <a:lnSpc>
                <a:spcPct val="94000"/>
              </a:lnSpc>
              <a:spcBef>
                <a:spcPts val="0"/>
              </a:spcBef>
              <a:spcAft>
                <a:spcPts val="0"/>
              </a:spcAft>
            </a:pPr>
            <a:r>
              <a:rPr sz="6000" b="0">
                <a:solidFill>
                  <a:srgbClr val="F4ECDC"/>
                </a:solidFill>
                <a:latin typeface="Georgia"/>
              </a:rPr>
              <a:t>The Woman Who</a:t>
            </a:r>
          </a:p>
          <a:p>
            <a:pPr algn="l">
              <a:lnSpc>
                <a:spcPct val="94000"/>
              </a:lnSpc>
              <a:spcBef>
                <a:spcPts val="0"/>
              </a:spcBef>
              <a:spcAft>
                <a:spcPts val="0"/>
              </a:spcAft>
            </a:pPr>
            <a:r>
              <a:rPr sz="6000" b="0">
                <a:solidFill>
                  <a:srgbClr val="F4ECDC"/>
                </a:solidFill>
                <a:latin typeface="Georgia"/>
              </a:rPr>
              <a:t>Ended the War</a:t>
            </a:r>
          </a:p>
        </p:txBody>
      </p:sp>
      <p:sp>
        <p:nvSpPr>
          <p:cNvPr id="6" name="TextBox 5"/>
          <p:cNvSpPr txBox="1"/>
          <p:nvPr/>
        </p:nvSpPr>
        <p:spPr>
          <a:xfrm>
            <a:off x="722376" y="4517136"/>
            <a:ext cx="6190488" cy="512064"/>
          </a:xfrm>
          <a:prstGeom prst="rect">
            <a:avLst/>
          </a:prstGeom>
          <a:noFill/>
        </p:spPr>
        <p:txBody>
          <a:bodyPr wrap="square" lIns="0" rIns="0" tIns="0" bIns="0" anchor="t">
            <a:spAutoFit/>
          </a:bodyPr>
          <a:lstStyle/>
          <a:p>
            <a:pPr algn="l">
              <a:lnSpc>
                <a:spcPct val="100000"/>
              </a:lnSpc>
              <a:spcBef>
                <a:spcPts val="0"/>
              </a:spcBef>
              <a:spcAft>
                <a:spcPts val="0"/>
              </a:spcAft>
            </a:pPr>
            <a:r>
              <a:rPr sz="3000" b="0">
                <a:solidFill>
                  <a:srgbClr val="C8A15E"/>
                </a:solidFill>
                <a:latin typeface="Georgia"/>
              </a:rPr>
              <a:t>Jael</a:t>
            </a:r>
          </a:p>
        </p:txBody>
      </p:sp>
      <p:sp>
        <p:nvSpPr>
          <p:cNvPr id="7" name="TextBox 6"/>
          <p:cNvSpPr txBox="1"/>
          <p:nvPr/>
        </p:nvSpPr>
        <p:spPr>
          <a:xfrm>
            <a:off x="722376" y="5084064"/>
            <a:ext cx="6190488" cy="265176"/>
          </a:xfrm>
          <a:prstGeom prst="rect">
            <a:avLst/>
          </a:prstGeom>
          <a:noFill/>
        </p:spPr>
        <p:txBody>
          <a:bodyPr wrap="square" lIns="0" rIns="0" tIns="0" bIns="0" anchor="t">
            <a:spAutoFit/>
          </a:bodyPr>
          <a:lstStyle/>
          <a:p>
            <a:pPr algn="l">
              <a:lnSpc>
                <a:spcPct val="100000"/>
              </a:lnSpc>
              <a:spcBef>
                <a:spcPts val="0"/>
              </a:spcBef>
              <a:spcAft>
                <a:spcPts val="0"/>
              </a:spcAft>
            </a:pPr>
            <a:r>
              <a:rPr sz="1400" b="1">
                <a:solidFill>
                  <a:srgbClr val="F4ECDC"/>
                </a:solidFill>
                <a:latin typeface="Candara"/>
              </a:rPr>
              <a:t>Judges 4:1–24</a:t>
            </a:r>
          </a:p>
        </p:txBody>
      </p:sp>
      <p:sp>
        <p:nvSpPr>
          <p:cNvPr id="8" name="TextBox 7"/>
          <p:cNvSpPr txBox="1"/>
          <p:nvPr/>
        </p:nvSpPr>
        <p:spPr>
          <a:xfrm>
            <a:off x="722376" y="5870448"/>
            <a:ext cx="6190488" cy="228600"/>
          </a:xfrm>
          <a:prstGeom prst="rect">
            <a:avLst/>
          </a:prstGeom>
          <a:noFill/>
        </p:spPr>
        <p:txBody>
          <a:bodyPr wrap="square" lIns="0" rIns="0" tIns="0" bIns="0" anchor="t">
            <a:spAutoFit/>
          </a:bodyPr>
          <a:lstStyle/>
          <a:p>
            <a:pPr algn="l">
              <a:lnSpc>
                <a:spcPct val="100000"/>
              </a:lnSpc>
              <a:spcBef>
                <a:spcPts val="0"/>
              </a:spcBef>
              <a:spcAft>
                <a:spcPts val="0"/>
              </a:spcAft>
            </a:pPr>
            <a:r>
              <a:rPr sz="900" b="0">
                <a:solidFill>
                  <a:srgbClr val="B9AB90"/>
                </a:solidFill>
                <a:latin typeface="Candara"/>
              </a:rPr>
              <a:t>A SERMON FOR THE PULPIT · 55–60 MINUTES</a:t>
            </a:r>
          </a:p>
        </p:txBody>
      </p:sp>
      <p:sp>
        <p:nvSpPr>
          <p:cNvPr id="9" name="TextBox 8"/>
          <p:cNvSpPr txBox="1"/>
          <p:nvPr/>
        </p:nvSpPr>
        <p:spPr>
          <a:xfrm>
            <a:off x="722376" y="6153912"/>
            <a:ext cx="6190488"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8F9AAB"/>
                </a:solidFill>
                <a:latin typeface="Candara"/>
              </a:rPr>
              <a:t>FIRST EDITION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01 · THE BIG IDEA</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JUDGES 4:1–24</a:t>
            </a:r>
          </a:p>
        </p:txBody>
      </p:sp>
      <p:sp>
        <p:nvSpPr>
          <p:cNvPr id="4" name="TextBox 3"/>
          <p:cNvSpPr txBox="1"/>
          <p:nvPr/>
        </p:nvSpPr>
        <p:spPr>
          <a:xfrm>
            <a:off x="722376" y="1673352"/>
            <a:ext cx="10744200" cy="2496312"/>
          </a:xfrm>
          <a:prstGeom prst="rect">
            <a:avLst/>
          </a:prstGeom>
          <a:noFill/>
        </p:spPr>
        <p:txBody>
          <a:bodyPr wrap="square" lIns="0" rIns="0" tIns="0" bIns="0" anchor="t">
            <a:spAutoFit/>
          </a:bodyPr>
          <a:lstStyle/>
          <a:p>
            <a:pPr algn="l">
              <a:lnSpc>
                <a:spcPct val="105000"/>
              </a:lnSpc>
              <a:spcBef>
                <a:spcPts val="0"/>
              </a:spcBef>
              <a:spcAft>
                <a:spcPts val="0"/>
              </a:spcAft>
            </a:pPr>
            <a:r>
              <a:rPr sz="5200" b="0">
                <a:solidFill>
                  <a:srgbClr val="F4ECDC"/>
                </a:solidFill>
                <a:latin typeface="Georgia"/>
              </a:rPr>
              <a:t>Jael drove a peg through the enemy.</a:t>
            </a:r>
          </a:p>
          <a:p>
            <a:pPr algn="l">
              <a:lnSpc>
                <a:spcPct val="105000"/>
              </a:lnSpc>
              <a:spcBef>
                <a:spcPts val="0"/>
              </a:spcBef>
              <a:spcAft>
                <a:spcPts val="0"/>
              </a:spcAft>
            </a:pPr>
            <a:r>
              <a:rPr sz="5200" b="0">
                <a:solidFill>
                  <a:srgbClr val="F4ECDC"/>
                </a:solidFill>
                <a:latin typeface="Georgia"/>
              </a:rPr>
              <a:t>Jesus took the nails for us.</a:t>
            </a:r>
          </a:p>
          <a:p>
            <a:pPr algn="l">
              <a:lnSpc>
                <a:spcPct val="105000"/>
              </a:lnSpc>
              <a:spcBef>
                <a:spcPts val="0"/>
              </a:spcBef>
              <a:spcAft>
                <a:spcPts val="0"/>
              </a:spcAft>
            </a:pPr>
            <a:r>
              <a:rPr sz="5200" b="0">
                <a:solidFill>
                  <a:srgbClr val="F4ECDC"/>
                </a:solidFill>
                <a:latin typeface="Georgia"/>
              </a:rPr>
              <a:t>The war is over.</a:t>
            </a:r>
          </a:p>
        </p:txBody>
      </p:sp>
      <p:sp>
        <p:nvSpPr>
          <p:cNvPr id="5" name="TextBox 4"/>
          <p:cNvSpPr txBox="1"/>
          <p:nvPr/>
        </p:nvSpPr>
        <p:spPr>
          <a:xfrm>
            <a:off x="722376" y="4398264"/>
            <a:ext cx="7808975" cy="347472"/>
          </a:xfrm>
          <a:prstGeom prst="rect">
            <a:avLst/>
          </a:prstGeom>
          <a:noFill/>
        </p:spPr>
        <p:txBody>
          <a:bodyPr wrap="square" lIns="0" rIns="0" tIns="0" bIns="0" anchor="t">
            <a:spAutoFit/>
          </a:bodyPr>
          <a:lstStyle/>
          <a:p>
            <a:pPr algn="l">
              <a:lnSpc>
                <a:spcPct val="100000"/>
              </a:lnSpc>
              <a:spcBef>
                <a:spcPts val="0"/>
              </a:spcBef>
              <a:spcAft>
                <a:spcPts val="0"/>
              </a:spcAft>
            </a:pPr>
            <a:r>
              <a:rPr sz="2000" b="0">
                <a:solidFill>
                  <a:srgbClr val="B9AB90"/>
                </a:solidFill>
                <a:latin typeface="Candara"/>
              </a:rPr>
              <a:t>God wins through the unlikely. The victory is His.</a:t>
            </a:r>
          </a:p>
        </p:txBody>
      </p:sp>
      <p:sp>
        <p:nvSpPr>
          <p:cNvPr id="6" name="TextBox 5"/>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7" name="TextBox 6"/>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02 · THE OPPRESSION</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JUDGES 4:1–3</a:t>
            </a:r>
          </a:p>
        </p:txBody>
      </p:sp>
      <p:sp>
        <p:nvSpPr>
          <p:cNvPr id="4" name="TextBox 3"/>
          <p:cNvSpPr txBox="1"/>
          <p:nvPr/>
        </p:nvSpPr>
        <p:spPr>
          <a:xfrm>
            <a:off x="722376" y="914400"/>
            <a:ext cx="10744200" cy="914400"/>
          </a:xfrm>
          <a:prstGeom prst="rect">
            <a:avLst/>
          </a:prstGeom>
          <a:noFill/>
        </p:spPr>
        <p:txBody>
          <a:bodyPr wrap="square" lIns="0" rIns="0" tIns="0" bIns="0" anchor="t">
            <a:spAutoFit/>
          </a:bodyPr>
          <a:lstStyle/>
          <a:p>
            <a:pPr algn="l">
              <a:lnSpc>
                <a:spcPct val="100000"/>
              </a:lnSpc>
              <a:spcBef>
                <a:spcPts val="0"/>
              </a:spcBef>
              <a:spcAft>
                <a:spcPts val="0"/>
              </a:spcAft>
            </a:pPr>
            <a:r>
              <a:rPr sz="4200" b="0">
                <a:solidFill>
                  <a:srgbClr val="F4ECDC"/>
                </a:solidFill>
                <a:latin typeface="Georgia"/>
              </a:rPr>
              <a:t>Twenty years under iron.</a:t>
            </a:r>
          </a:p>
        </p:txBody>
      </p:sp>
      <p:sp>
        <p:nvSpPr>
          <p:cNvPr id="5" name="TextBox 4"/>
          <p:cNvSpPr txBox="1"/>
          <p:nvPr/>
        </p:nvSpPr>
        <p:spPr>
          <a:xfrm>
            <a:off x="722376" y="1965960"/>
            <a:ext cx="2478024"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I</a:t>
            </a:r>
          </a:p>
        </p:txBody>
      </p:sp>
      <p:sp>
        <p:nvSpPr>
          <p:cNvPr id="6" name="TextBox 5"/>
          <p:cNvSpPr txBox="1"/>
          <p:nvPr/>
        </p:nvSpPr>
        <p:spPr>
          <a:xfrm>
            <a:off x="722376" y="2249424"/>
            <a:ext cx="2478024" cy="612648"/>
          </a:xfrm>
          <a:prstGeom prst="rect">
            <a:avLst/>
          </a:prstGeom>
          <a:noFill/>
        </p:spPr>
        <p:txBody>
          <a:bodyPr wrap="square" lIns="0" rIns="0" tIns="0" bIns="0" anchor="t">
            <a:spAutoFit/>
          </a:bodyPr>
          <a:lstStyle/>
          <a:p>
            <a:pPr algn="l">
              <a:lnSpc>
                <a:spcPct val="100000"/>
              </a:lnSpc>
              <a:spcBef>
                <a:spcPts val="0"/>
              </a:spcBef>
              <a:spcAft>
                <a:spcPts val="0"/>
              </a:spcAft>
            </a:pPr>
            <a:r>
              <a:rPr sz="2800" b="0">
                <a:solidFill>
                  <a:srgbClr val="F4ECDC"/>
                </a:solidFill>
                <a:latin typeface="Georgia"/>
              </a:rPr>
              <a:t>The king</a:t>
            </a:r>
          </a:p>
        </p:txBody>
      </p:sp>
      <p:sp>
        <p:nvSpPr>
          <p:cNvPr id="7" name="TextBox 6"/>
          <p:cNvSpPr txBox="1"/>
          <p:nvPr/>
        </p:nvSpPr>
        <p:spPr>
          <a:xfrm>
            <a:off x="722376" y="2953512"/>
            <a:ext cx="2478024" cy="758952"/>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Jabin of Hazor.</a:t>
            </a:r>
          </a:p>
          <a:p>
            <a:pPr algn="l">
              <a:lnSpc>
                <a:spcPct val="110000"/>
              </a:lnSpc>
              <a:spcBef>
                <a:spcPts val="0"/>
              </a:spcBef>
              <a:spcAft>
                <a:spcPts val="0"/>
              </a:spcAft>
            </a:pPr>
            <a:r>
              <a:rPr sz="1500" b="0">
                <a:solidFill>
                  <a:srgbClr val="B9AB90"/>
                </a:solidFill>
                <a:latin typeface="Candara"/>
              </a:rPr>
              <a:t>A cruel reign.</a:t>
            </a:r>
          </a:p>
        </p:txBody>
      </p:sp>
      <p:sp>
        <p:nvSpPr>
          <p:cNvPr id="8" name="TextBox 7"/>
          <p:cNvSpPr txBox="1"/>
          <p:nvPr/>
        </p:nvSpPr>
        <p:spPr>
          <a:xfrm>
            <a:off x="3483864" y="1965960"/>
            <a:ext cx="2478024"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II</a:t>
            </a:r>
          </a:p>
        </p:txBody>
      </p:sp>
      <p:sp>
        <p:nvSpPr>
          <p:cNvPr id="9" name="TextBox 8"/>
          <p:cNvSpPr txBox="1"/>
          <p:nvPr/>
        </p:nvSpPr>
        <p:spPr>
          <a:xfrm>
            <a:off x="3483864" y="2249424"/>
            <a:ext cx="2478024" cy="612648"/>
          </a:xfrm>
          <a:prstGeom prst="rect">
            <a:avLst/>
          </a:prstGeom>
          <a:noFill/>
        </p:spPr>
        <p:txBody>
          <a:bodyPr wrap="square" lIns="0" rIns="0" tIns="0" bIns="0" anchor="t">
            <a:spAutoFit/>
          </a:bodyPr>
          <a:lstStyle/>
          <a:p>
            <a:pPr algn="l">
              <a:lnSpc>
                <a:spcPct val="100000"/>
              </a:lnSpc>
              <a:spcBef>
                <a:spcPts val="0"/>
              </a:spcBef>
              <a:spcAft>
                <a:spcPts val="0"/>
              </a:spcAft>
            </a:pPr>
            <a:r>
              <a:rPr sz="2800" b="0">
                <a:solidFill>
                  <a:srgbClr val="F4ECDC"/>
                </a:solidFill>
                <a:latin typeface="Georgia"/>
              </a:rPr>
              <a:t>The general</a:t>
            </a:r>
          </a:p>
        </p:txBody>
      </p:sp>
      <p:sp>
        <p:nvSpPr>
          <p:cNvPr id="10" name="TextBox 9"/>
          <p:cNvSpPr txBox="1"/>
          <p:nvPr/>
        </p:nvSpPr>
        <p:spPr>
          <a:xfrm>
            <a:off x="3483864" y="2953512"/>
            <a:ext cx="2478024" cy="758952"/>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Sisera.</a:t>
            </a:r>
          </a:p>
          <a:p>
            <a:pPr algn="l">
              <a:lnSpc>
                <a:spcPct val="110000"/>
              </a:lnSpc>
              <a:spcBef>
                <a:spcPts val="0"/>
              </a:spcBef>
              <a:spcAft>
                <a:spcPts val="0"/>
              </a:spcAft>
            </a:pPr>
            <a:r>
              <a:rPr sz="1500" b="0">
                <a:solidFill>
                  <a:srgbClr val="B9AB90"/>
                </a:solidFill>
                <a:latin typeface="Candara"/>
              </a:rPr>
              <a:t>Nine hundred chariots.</a:t>
            </a:r>
          </a:p>
        </p:txBody>
      </p:sp>
      <p:sp>
        <p:nvSpPr>
          <p:cNvPr id="11" name="TextBox 10"/>
          <p:cNvSpPr txBox="1"/>
          <p:nvPr/>
        </p:nvSpPr>
        <p:spPr>
          <a:xfrm>
            <a:off x="6245352" y="1965960"/>
            <a:ext cx="2478024"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III</a:t>
            </a:r>
          </a:p>
        </p:txBody>
      </p:sp>
      <p:sp>
        <p:nvSpPr>
          <p:cNvPr id="12" name="TextBox 11"/>
          <p:cNvSpPr txBox="1"/>
          <p:nvPr/>
        </p:nvSpPr>
        <p:spPr>
          <a:xfrm>
            <a:off x="6245352" y="2249424"/>
            <a:ext cx="2478024" cy="612648"/>
          </a:xfrm>
          <a:prstGeom prst="rect">
            <a:avLst/>
          </a:prstGeom>
          <a:noFill/>
        </p:spPr>
        <p:txBody>
          <a:bodyPr wrap="square" lIns="0" rIns="0" tIns="0" bIns="0" anchor="t">
            <a:spAutoFit/>
          </a:bodyPr>
          <a:lstStyle/>
          <a:p>
            <a:pPr algn="l">
              <a:lnSpc>
                <a:spcPct val="100000"/>
              </a:lnSpc>
              <a:spcBef>
                <a:spcPts val="0"/>
              </a:spcBef>
              <a:spcAft>
                <a:spcPts val="0"/>
              </a:spcAft>
            </a:pPr>
            <a:r>
              <a:rPr sz="2800" b="0">
                <a:solidFill>
                  <a:srgbClr val="F4ECDC"/>
                </a:solidFill>
                <a:latin typeface="Georgia"/>
              </a:rPr>
              <a:t>The people</a:t>
            </a:r>
          </a:p>
        </p:txBody>
      </p:sp>
      <p:sp>
        <p:nvSpPr>
          <p:cNvPr id="13" name="TextBox 12"/>
          <p:cNvSpPr txBox="1"/>
          <p:nvPr/>
        </p:nvSpPr>
        <p:spPr>
          <a:xfrm>
            <a:off x="6245352" y="2953512"/>
            <a:ext cx="2478024" cy="758952"/>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No chariots.</a:t>
            </a:r>
          </a:p>
          <a:p>
            <a:pPr algn="l">
              <a:lnSpc>
                <a:spcPct val="110000"/>
              </a:lnSpc>
              <a:spcBef>
                <a:spcPts val="0"/>
              </a:spcBef>
              <a:spcAft>
                <a:spcPts val="0"/>
              </a:spcAft>
            </a:pPr>
            <a:r>
              <a:rPr sz="1500" b="0">
                <a:solidFill>
                  <a:srgbClr val="B9AB90"/>
                </a:solidFill>
                <a:latin typeface="Candara"/>
              </a:rPr>
              <a:t>No hope.</a:t>
            </a:r>
          </a:p>
        </p:txBody>
      </p:sp>
      <p:sp>
        <p:nvSpPr>
          <p:cNvPr id="14" name="TextBox 13"/>
          <p:cNvSpPr txBox="1"/>
          <p:nvPr/>
        </p:nvSpPr>
        <p:spPr>
          <a:xfrm>
            <a:off x="9006840" y="1965960"/>
            <a:ext cx="2478024"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IV</a:t>
            </a:r>
          </a:p>
        </p:txBody>
      </p:sp>
      <p:sp>
        <p:nvSpPr>
          <p:cNvPr id="15" name="TextBox 14"/>
          <p:cNvSpPr txBox="1"/>
          <p:nvPr/>
        </p:nvSpPr>
        <p:spPr>
          <a:xfrm>
            <a:off x="9006840" y="2249424"/>
            <a:ext cx="2478024" cy="612648"/>
          </a:xfrm>
          <a:prstGeom prst="rect">
            <a:avLst/>
          </a:prstGeom>
          <a:noFill/>
        </p:spPr>
        <p:txBody>
          <a:bodyPr wrap="square" lIns="0" rIns="0" tIns="0" bIns="0" anchor="t">
            <a:spAutoFit/>
          </a:bodyPr>
          <a:lstStyle/>
          <a:p>
            <a:pPr algn="l">
              <a:lnSpc>
                <a:spcPct val="100000"/>
              </a:lnSpc>
              <a:spcBef>
                <a:spcPts val="0"/>
              </a:spcBef>
              <a:spcAft>
                <a:spcPts val="0"/>
              </a:spcAft>
            </a:pPr>
            <a:r>
              <a:rPr sz="2800" b="0">
                <a:solidFill>
                  <a:srgbClr val="F4ECDC"/>
                </a:solidFill>
                <a:latin typeface="Georgia"/>
              </a:rPr>
              <a:t>The cry</a:t>
            </a:r>
          </a:p>
        </p:txBody>
      </p:sp>
      <p:sp>
        <p:nvSpPr>
          <p:cNvPr id="16" name="TextBox 15"/>
          <p:cNvSpPr txBox="1"/>
          <p:nvPr/>
        </p:nvSpPr>
        <p:spPr>
          <a:xfrm>
            <a:off x="9006840" y="2953512"/>
            <a:ext cx="2478024" cy="758952"/>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They cried out.</a:t>
            </a:r>
          </a:p>
          <a:p>
            <a:pPr algn="l">
              <a:lnSpc>
                <a:spcPct val="110000"/>
              </a:lnSpc>
              <a:spcBef>
                <a:spcPts val="0"/>
              </a:spcBef>
              <a:spcAft>
                <a:spcPts val="0"/>
              </a:spcAft>
            </a:pPr>
            <a:r>
              <a:rPr sz="1500" b="0">
                <a:solidFill>
                  <a:srgbClr val="B9AB90"/>
                </a:solidFill>
                <a:latin typeface="Candara"/>
              </a:rPr>
              <a:t>The LORD heard.</a:t>
            </a:r>
          </a:p>
        </p:txBody>
      </p:sp>
      <p:sp>
        <p:nvSpPr>
          <p:cNvPr id="17" name="Rectangle 16"/>
          <p:cNvSpPr/>
          <p:nvPr/>
        </p:nvSpPr>
        <p:spPr>
          <a:xfrm>
            <a:off x="722376" y="4288536"/>
            <a:ext cx="10744200" cy="1216152"/>
          </a:xfrm>
          <a:prstGeom prst="rect">
            <a:avLst/>
          </a:prstGeom>
          <a:solidFill>
            <a:srgbClr val="F4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507992"/>
            <a:ext cx="10131552" cy="731520"/>
          </a:xfrm>
          <a:prstGeom prst="rect">
            <a:avLst/>
          </a:prstGeom>
          <a:noFill/>
        </p:spPr>
        <p:txBody>
          <a:bodyPr wrap="square" lIns="0" rIns="0" tIns="0" bIns="0" anchor="ctr">
            <a:spAutoFit/>
          </a:bodyPr>
          <a:lstStyle/>
          <a:p>
            <a:pPr algn="l">
              <a:lnSpc>
                <a:spcPct val="100000"/>
              </a:lnSpc>
              <a:spcBef>
                <a:spcPts val="0"/>
              </a:spcBef>
              <a:spcAft>
                <a:spcPts val="0"/>
              </a:spcAft>
            </a:pPr>
            <a:r>
              <a:rPr sz="2400" b="0">
                <a:solidFill>
                  <a:srgbClr val="16233A"/>
                </a:solidFill>
                <a:latin typeface="Georgia"/>
              </a:rPr>
              <a:t>The enemy was strong.</a:t>
            </a:r>
          </a:p>
          <a:p>
            <a:pPr algn="l">
              <a:lnSpc>
                <a:spcPct val="100000"/>
              </a:lnSpc>
              <a:spcBef>
                <a:spcPts val="0"/>
              </a:spcBef>
              <a:spcAft>
                <a:spcPts val="0"/>
              </a:spcAft>
            </a:pPr>
            <a:r>
              <a:rPr sz="2400" b="0">
                <a:solidFill>
                  <a:srgbClr val="16233A"/>
                </a:solidFill>
                <a:latin typeface="Georgia"/>
              </a:rPr>
              <a:t>The LORD was stronger.</a:t>
            </a:r>
          </a:p>
        </p:txBody>
      </p:sp>
      <p:sp>
        <p:nvSpPr>
          <p:cNvPr id="19" name="TextBox 18"/>
          <p:cNvSpPr txBox="1"/>
          <p:nvPr/>
        </p:nvSpPr>
        <p:spPr>
          <a:xfrm>
            <a:off x="722376" y="5733288"/>
            <a:ext cx="7808975" cy="265176"/>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C8A15E"/>
                </a:solidFill>
                <a:latin typeface="Candara"/>
              </a:rPr>
              <a:t>God heard the cry.</a:t>
            </a:r>
          </a:p>
        </p:txBody>
      </p:sp>
      <p:sp>
        <p:nvSpPr>
          <p:cNvPr id="20" name="TextBox 19"/>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21" name="TextBox 20"/>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03 · THE CALL</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JUDGES 4:4–9</a:t>
            </a:r>
          </a:p>
        </p:txBody>
      </p:sp>
      <p:sp>
        <p:nvSpPr>
          <p:cNvPr id="4" name="TextBox 3"/>
          <p:cNvSpPr txBox="1"/>
          <p:nvPr/>
        </p:nvSpPr>
        <p:spPr>
          <a:xfrm>
            <a:off x="722376" y="914400"/>
            <a:ext cx="10744200" cy="914400"/>
          </a:xfrm>
          <a:prstGeom prst="rect">
            <a:avLst/>
          </a:prstGeom>
          <a:noFill/>
        </p:spPr>
        <p:txBody>
          <a:bodyPr wrap="square" lIns="0" rIns="0" tIns="0" bIns="0" anchor="t">
            <a:spAutoFit/>
          </a:bodyPr>
          <a:lstStyle/>
          <a:p>
            <a:pPr algn="l">
              <a:lnSpc>
                <a:spcPct val="100000"/>
              </a:lnSpc>
              <a:spcBef>
                <a:spcPts val="0"/>
              </a:spcBef>
              <a:spcAft>
                <a:spcPts val="0"/>
              </a:spcAft>
            </a:pPr>
            <a:r>
              <a:rPr sz="4000" b="0">
                <a:solidFill>
                  <a:srgbClr val="F4ECDC"/>
                </a:solidFill>
                <a:latin typeface="Georgia"/>
              </a:rPr>
              <a:t>A prophetess, a general, a promise.</a:t>
            </a:r>
          </a:p>
        </p:txBody>
      </p:sp>
      <p:sp>
        <p:nvSpPr>
          <p:cNvPr id="5" name="TextBox 4"/>
          <p:cNvSpPr txBox="1"/>
          <p:nvPr/>
        </p:nvSpPr>
        <p:spPr>
          <a:xfrm>
            <a:off x="722376" y="1810512"/>
            <a:ext cx="3429000"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I</a:t>
            </a:r>
          </a:p>
        </p:txBody>
      </p:sp>
      <p:sp>
        <p:nvSpPr>
          <p:cNvPr id="6" name="TextBox 5"/>
          <p:cNvSpPr txBox="1"/>
          <p:nvPr/>
        </p:nvSpPr>
        <p:spPr>
          <a:xfrm>
            <a:off x="722376" y="2057400"/>
            <a:ext cx="3429000" cy="210312"/>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D8C5A1"/>
                </a:solidFill>
                <a:latin typeface="Candara"/>
              </a:rPr>
              <a:t>JUDGES 4:4–6</a:t>
            </a:r>
          </a:p>
        </p:txBody>
      </p:sp>
      <p:sp>
        <p:nvSpPr>
          <p:cNvPr id="7" name="TextBox 6"/>
          <p:cNvSpPr txBox="1"/>
          <p:nvPr/>
        </p:nvSpPr>
        <p:spPr>
          <a:xfrm>
            <a:off x="722376" y="2340864"/>
            <a:ext cx="3429000" cy="1234440"/>
          </a:xfrm>
          <a:prstGeom prst="rect">
            <a:avLst/>
          </a:prstGeom>
          <a:noFill/>
        </p:spPr>
        <p:txBody>
          <a:bodyPr wrap="square" lIns="0" rIns="0" tIns="0" bIns="0" anchor="t">
            <a:spAutoFit/>
          </a:bodyPr>
          <a:lstStyle/>
          <a:p>
            <a:pPr algn="l">
              <a:lnSpc>
                <a:spcPct val="100000"/>
              </a:lnSpc>
              <a:spcBef>
                <a:spcPts val="0"/>
              </a:spcBef>
              <a:spcAft>
                <a:spcPts val="0"/>
              </a:spcAft>
            </a:pPr>
            <a:r>
              <a:rPr sz="3400" b="0">
                <a:solidFill>
                  <a:srgbClr val="F4ECDC"/>
                </a:solidFill>
                <a:latin typeface="Georgia"/>
              </a:rPr>
              <a:t>Deborah.</a:t>
            </a:r>
          </a:p>
          <a:p>
            <a:pPr algn="l">
              <a:lnSpc>
                <a:spcPct val="100000"/>
              </a:lnSpc>
              <a:spcBef>
                <a:spcPts val="0"/>
              </a:spcBef>
              <a:spcAft>
                <a:spcPts val="0"/>
              </a:spcAft>
            </a:pPr>
            <a:r>
              <a:rPr sz="3400" b="0">
                <a:solidFill>
                  <a:srgbClr val="C8A15E"/>
                </a:solidFill>
                <a:latin typeface="Georgia"/>
              </a:rPr>
              <a:t>Prophetess.</a:t>
            </a:r>
          </a:p>
        </p:txBody>
      </p:sp>
      <p:sp>
        <p:nvSpPr>
          <p:cNvPr id="8" name="TextBox 7"/>
          <p:cNvSpPr txBox="1"/>
          <p:nvPr/>
        </p:nvSpPr>
        <p:spPr>
          <a:xfrm>
            <a:off x="722376" y="3730752"/>
            <a:ext cx="3429000" cy="566928"/>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She speaks for God.</a:t>
            </a:r>
          </a:p>
        </p:txBody>
      </p:sp>
      <p:sp>
        <p:nvSpPr>
          <p:cNvPr id="9" name="TextBox 8"/>
          <p:cNvSpPr txBox="1"/>
          <p:nvPr/>
        </p:nvSpPr>
        <p:spPr>
          <a:xfrm>
            <a:off x="4379976" y="1810512"/>
            <a:ext cx="3429000"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II</a:t>
            </a:r>
          </a:p>
        </p:txBody>
      </p:sp>
      <p:sp>
        <p:nvSpPr>
          <p:cNvPr id="10" name="TextBox 9"/>
          <p:cNvSpPr txBox="1"/>
          <p:nvPr/>
        </p:nvSpPr>
        <p:spPr>
          <a:xfrm>
            <a:off x="4379976" y="2057400"/>
            <a:ext cx="3429000" cy="210312"/>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D8C5A1"/>
                </a:solidFill>
                <a:latin typeface="Candara"/>
              </a:rPr>
              <a:t>JUDGES 4:8</a:t>
            </a:r>
          </a:p>
        </p:txBody>
      </p:sp>
      <p:sp>
        <p:nvSpPr>
          <p:cNvPr id="11" name="TextBox 10"/>
          <p:cNvSpPr txBox="1"/>
          <p:nvPr/>
        </p:nvSpPr>
        <p:spPr>
          <a:xfrm>
            <a:off x="4379976" y="2340864"/>
            <a:ext cx="3429000" cy="1234440"/>
          </a:xfrm>
          <a:prstGeom prst="rect">
            <a:avLst/>
          </a:prstGeom>
          <a:noFill/>
        </p:spPr>
        <p:txBody>
          <a:bodyPr wrap="square" lIns="0" rIns="0" tIns="0" bIns="0" anchor="t">
            <a:spAutoFit/>
          </a:bodyPr>
          <a:lstStyle/>
          <a:p>
            <a:pPr algn="l">
              <a:lnSpc>
                <a:spcPct val="100000"/>
              </a:lnSpc>
              <a:spcBef>
                <a:spcPts val="0"/>
              </a:spcBef>
              <a:spcAft>
                <a:spcPts val="0"/>
              </a:spcAft>
            </a:pPr>
            <a:r>
              <a:rPr sz="3400" b="0">
                <a:solidFill>
                  <a:srgbClr val="F4ECDC"/>
                </a:solidFill>
                <a:latin typeface="Georgia"/>
              </a:rPr>
              <a:t>Barak.</a:t>
            </a:r>
          </a:p>
          <a:p>
            <a:pPr algn="l">
              <a:lnSpc>
                <a:spcPct val="100000"/>
              </a:lnSpc>
              <a:spcBef>
                <a:spcPts val="0"/>
              </a:spcBef>
              <a:spcAft>
                <a:spcPts val="0"/>
              </a:spcAft>
            </a:pPr>
            <a:r>
              <a:rPr sz="3400" b="0">
                <a:solidFill>
                  <a:srgbClr val="C8A15E"/>
                </a:solidFill>
                <a:latin typeface="Georgia"/>
              </a:rPr>
              <a:t>If you go…</a:t>
            </a:r>
          </a:p>
        </p:txBody>
      </p:sp>
      <p:sp>
        <p:nvSpPr>
          <p:cNvPr id="12" name="TextBox 11"/>
          <p:cNvSpPr txBox="1"/>
          <p:nvPr/>
        </p:nvSpPr>
        <p:spPr>
          <a:xfrm>
            <a:off x="4379976" y="3730752"/>
            <a:ext cx="3429000" cy="566928"/>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Faith with fear.</a:t>
            </a:r>
          </a:p>
        </p:txBody>
      </p:sp>
      <p:sp>
        <p:nvSpPr>
          <p:cNvPr id="13" name="TextBox 12"/>
          <p:cNvSpPr txBox="1"/>
          <p:nvPr/>
        </p:nvSpPr>
        <p:spPr>
          <a:xfrm>
            <a:off x="8037575" y="1810512"/>
            <a:ext cx="3429000"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III</a:t>
            </a:r>
          </a:p>
        </p:txBody>
      </p:sp>
      <p:sp>
        <p:nvSpPr>
          <p:cNvPr id="14" name="TextBox 13"/>
          <p:cNvSpPr txBox="1"/>
          <p:nvPr/>
        </p:nvSpPr>
        <p:spPr>
          <a:xfrm>
            <a:off x="8037575" y="2057400"/>
            <a:ext cx="3429000" cy="210312"/>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D8C5A1"/>
                </a:solidFill>
                <a:latin typeface="Candara"/>
              </a:rPr>
              <a:t>JUDGES 4:9</a:t>
            </a:r>
          </a:p>
        </p:txBody>
      </p:sp>
      <p:sp>
        <p:nvSpPr>
          <p:cNvPr id="15" name="TextBox 14"/>
          <p:cNvSpPr txBox="1"/>
          <p:nvPr/>
        </p:nvSpPr>
        <p:spPr>
          <a:xfrm>
            <a:off x="8037575" y="2340864"/>
            <a:ext cx="3429000" cy="1234440"/>
          </a:xfrm>
          <a:prstGeom prst="rect">
            <a:avLst/>
          </a:prstGeom>
          <a:noFill/>
        </p:spPr>
        <p:txBody>
          <a:bodyPr wrap="square" lIns="0" rIns="0" tIns="0" bIns="0" anchor="t">
            <a:spAutoFit/>
          </a:bodyPr>
          <a:lstStyle/>
          <a:p>
            <a:pPr algn="l">
              <a:lnSpc>
                <a:spcPct val="100000"/>
              </a:lnSpc>
              <a:spcBef>
                <a:spcPts val="0"/>
              </a:spcBef>
              <a:spcAft>
                <a:spcPts val="0"/>
              </a:spcAft>
            </a:pPr>
            <a:r>
              <a:rPr sz="3400" b="0">
                <a:solidFill>
                  <a:srgbClr val="F4ECDC"/>
                </a:solidFill>
                <a:latin typeface="Georgia"/>
              </a:rPr>
              <a:t>The honor.</a:t>
            </a:r>
          </a:p>
          <a:p>
            <a:pPr algn="l">
              <a:lnSpc>
                <a:spcPct val="100000"/>
              </a:lnSpc>
              <a:spcBef>
                <a:spcPts val="0"/>
              </a:spcBef>
              <a:spcAft>
                <a:spcPts val="0"/>
              </a:spcAft>
            </a:pPr>
            <a:r>
              <a:rPr sz="3400" b="0">
                <a:solidFill>
                  <a:srgbClr val="C8A15E"/>
                </a:solidFill>
                <a:latin typeface="Georgia"/>
              </a:rPr>
              <a:t>A woman.</a:t>
            </a:r>
          </a:p>
        </p:txBody>
      </p:sp>
      <p:sp>
        <p:nvSpPr>
          <p:cNvPr id="16" name="TextBox 15"/>
          <p:cNvSpPr txBox="1"/>
          <p:nvPr/>
        </p:nvSpPr>
        <p:spPr>
          <a:xfrm>
            <a:off x="8037575" y="3730752"/>
            <a:ext cx="3429000" cy="566928"/>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God reverses the order.</a:t>
            </a:r>
          </a:p>
        </p:txBody>
      </p:sp>
      <p:sp>
        <p:nvSpPr>
          <p:cNvPr id="17" name="TextBox 16"/>
          <p:cNvSpPr txBox="1"/>
          <p:nvPr/>
        </p:nvSpPr>
        <p:spPr>
          <a:xfrm>
            <a:off x="722376" y="4855464"/>
            <a:ext cx="10744200" cy="950976"/>
          </a:xfrm>
          <a:prstGeom prst="rect">
            <a:avLst/>
          </a:prstGeom>
          <a:noFill/>
        </p:spPr>
        <p:txBody>
          <a:bodyPr wrap="square" lIns="0" rIns="0" tIns="0" bIns="0" anchor="t">
            <a:spAutoFit/>
          </a:bodyPr>
          <a:lstStyle/>
          <a:p>
            <a:pPr algn="l">
              <a:lnSpc>
                <a:spcPct val="110000"/>
              </a:lnSpc>
              <a:spcBef>
                <a:spcPts val="0"/>
              </a:spcBef>
              <a:spcAft>
                <a:spcPts val="0"/>
              </a:spcAft>
            </a:pPr>
            <a:r>
              <a:rPr sz="2800" b="0">
                <a:solidFill>
                  <a:srgbClr val="F4ECDC"/>
                </a:solidFill>
                <a:latin typeface="Georgia"/>
              </a:rPr>
              <a:t>The battle was already won.</a:t>
            </a:r>
          </a:p>
          <a:p>
            <a:pPr algn="l">
              <a:lnSpc>
                <a:spcPct val="110000"/>
              </a:lnSpc>
              <a:spcBef>
                <a:spcPts val="0"/>
              </a:spcBef>
              <a:spcAft>
                <a:spcPts val="0"/>
              </a:spcAft>
            </a:pPr>
            <a:r>
              <a:rPr sz="2800" b="0">
                <a:solidFill>
                  <a:srgbClr val="F4ECDC"/>
                </a:solidFill>
                <a:latin typeface="Georgia"/>
              </a:rPr>
              <a:t>The glory would go to the unlikely.</a:t>
            </a:r>
          </a:p>
        </p:txBody>
      </p:sp>
      <p:sp>
        <p:nvSpPr>
          <p:cNvPr id="18" name="TextBox 17"/>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19" name="TextBox 18"/>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04 · THE BATTLE</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JUDGES 4:14–16</a:t>
            </a:r>
          </a:p>
        </p:txBody>
      </p:sp>
      <p:sp>
        <p:nvSpPr>
          <p:cNvPr id="4" name="TextBox 3"/>
          <p:cNvSpPr txBox="1"/>
          <p:nvPr/>
        </p:nvSpPr>
        <p:spPr>
          <a:xfrm>
            <a:off x="722376" y="914400"/>
            <a:ext cx="10744200" cy="914400"/>
          </a:xfrm>
          <a:prstGeom prst="rect">
            <a:avLst/>
          </a:prstGeom>
          <a:noFill/>
        </p:spPr>
        <p:txBody>
          <a:bodyPr wrap="square" lIns="0" rIns="0" tIns="0" bIns="0" anchor="t">
            <a:spAutoFit/>
          </a:bodyPr>
          <a:lstStyle/>
          <a:p>
            <a:pPr algn="l">
              <a:lnSpc>
                <a:spcPct val="100000"/>
              </a:lnSpc>
              <a:spcBef>
                <a:spcPts val="0"/>
              </a:spcBef>
              <a:spcAft>
                <a:spcPts val="0"/>
              </a:spcAft>
            </a:pPr>
            <a:r>
              <a:rPr sz="4200" b="0">
                <a:solidFill>
                  <a:srgbClr val="F4ECDC"/>
                </a:solidFill>
                <a:latin typeface="Georgia"/>
              </a:rPr>
              <a:t>The LORD routed Sisera.</a:t>
            </a:r>
          </a:p>
        </p:txBody>
      </p:sp>
      <p:sp>
        <p:nvSpPr>
          <p:cNvPr id="5" name="TextBox 4"/>
          <p:cNvSpPr txBox="1"/>
          <p:nvPr/>
        </p:nvSpPr>
        <p:spPr>
          <a:xfrm>
            <a:off x="722376" y="1719072"/>
            <a:ext cx="4572000" cy="2852928"/>
          </a:xfrm>
          <a:prstGeom prst="rect">
            <a:avLst/>
          </a:prstGeom>
          <a:noFill/>
        </p:spPr>
        <p:txBody>
          <a:bodyPr wrap="square" lIns="0" rIns="0" tIns="0" bIns="0" anchor="t">
            <a:spAutoFit/>
          </a:bodyPr>
          <a:lstStyle/>
          <a:p>
            <a:pPr algn="l">
              <a:lnSpc>
                <a:spcPct val="90000"/>
              </a:lnSpc>
              <a:spcBef>
                <a:spcPts val="0"/>
              </a:spcBef>
              <a:spcAft>
                <a:spcPts val="0"/>
              </a:spcAft>
            </a:pPr>
            <a:r>
              <a:rPr sz="11200" b="0">
                <a:solidFill>
                  <a:srgbClr val="C8A15E"/>
                </a:solidFill>
                <a:latin typeface="Georgia"/>
              </a:rPr>
              <a:t>10,000</a:t>
            </a:r>
          </a:p>
        </p:txBody>
      </p:sp>
      <p:sp>
        <p:nvSpPr>
          <p:cNvPr id="6" name="TextBox 5"/>
          <p:cNvSpPr txBox="1"/>
          <p:nvPr/>
        </p:nvSpPr>
        <p:spPr>
          <a:xfrm>
            <a:off x="777240" y="4572000"/>
            <a:ext cx="4379976" cy="512064"/>
          </a:xfrm>
          <a:prstGeom prst="rect">
            <a:avLst/>
          </a:prstGeom>
          <a:noFill/>
        </p:spPr>
        <p:txBody>
          <a:bodyPr wrap="square" lIns="0" rIns="0" tIns="0" bIns="0" anchor="t">
            <a:spAutoFit/>
          </a:bodyPr>
          <a:lstStyle/>
          <a:p>
            <a:pPr algn="l">
              <a:lnSpc>
                <a:spcPct val="100000"/>
              </a:lnSpc>
              <a:spcBef>
                <a:spcPts val="0"/>
              </a:spcBef>
              <a:spcAft>
                <a:spcPts val="0"/>
              </a:spcAft>
            </a:pPr>
            <a:r>
              <a:rPr sz="3400" b="0">
                <a:solidFill>
                  <a:srgbClr val="F4ECDC"/>
                </a:solidFill>
                <a:latin typeface="Georgia"/>
              </a:rPr>
              <a:t>Israelite troops</a:t>
            </a:r>
          </a:p>
        </p:txBody>
      </p:sp>
      <p:sp>
        <p:nvSpPr>
          <p:cNvPr id="7" name="TextBox 6"/>
          <p:cNvSpPr txBox="1"/>
          <p:nvPr/>
        </p:nvSpPr>
        <p:spPr>
          <a:xfrm>
            <a:off x="777240" y="5084064"/>
            <a:ext cx="4379976" cy="246888"/>
          </a:xfrm>
          <a:prstGeom prst="rect">
            <a:avLst/>
          </a:prstGeom>
          <a:noFill/>
        </p:spPr>
        <p:txBody>
          <a:bodyPr wrap="square" lIns="0" rIns="0" tIns="0" bIns="0" anchor="t">
            <a:spAutoFit/>
          </a:bodyPr>
          <a:lstStyle/>
          <a:p>
            <a:pPr algn="l">
              <a:lnSpc>
                <a:spcPct val="100000"/>
              </a:lnSpc>
              <a:spcBef>
                <a:spcPts val="0"/>
              </a:spcBef>
              <a:spcAft>
                <a:spcPts val="0"/>
              </a:spcAft>
            </a:pPr>
            <a:r>
              <a:rPr sz="1400" b="0">
                <a:solidFill>
                  <a:srgbClr val="B9AB90"/>
                </a:solidFill>
                <a:latin typeface="Candara"/>
              </a:rPr>
              <a:t>against 900 iron chariots</a:t>
            </a:r>
          </a:p>
        </p:txBody>
      </p:sp>
      <p:sp>
        <p:nvSpPr>
          <p:cNvPr id="8" name="TextBox 7"/>
          <p:cNvSpPr txBox="1"/>
          <p:nvPr/>
        </p:nvSpPr>
        <p:spPr>
          <a:xfrm>
            <a:off x="5715000" y="1810512"/>
            <a:ext cx="5751576" cy="1719072"/>
          </a:xfrm>
          <a:prstGeom prst="rect">
            <a:avLst/>
          </a:prstGeom>
          <a:noFill/>
        </p:spPr>
        <p:txBody>
          <a:bodyPr wrap="square" lIns="0" rIns="0" tIns="0" bIns="0" anchor="t">
            <a:spAutoFit/>
          </a:bodyPr>
          <a:lstStyle/>
          <a:p>
            <a:pPr algn="l">
              <a:lnSpc>
                <a:spcPct val="125000"/>
              </a:lnSpc>
              <a:spcBef>
                <a:spcPts val="0"/>
              </a:spcBef>
              <a:spcAft>
                <a:spcPts val="0"/>
              </a:spcAft>
            </a:pPr>
            <a:r>
              <a:rPr sz="1800" b="0">
                <a:solidFill>
                  <a:srgbClr val="F4ECDC"/>
                </a:solidFill>
                <a:latin typeface="Candara"/>
              </a:rPr>
              <a:t>Deborah cried, “Up! For this is the day in which the LORD has given Sisera into your hand.” Barak went down from Tabor, and the LORD routed the army. The stars fought. The river swept. Not a man was left.</a:t>
            </a:r>
          </a:p>
        </p:txBody>
      </p:sp>
      <p:sp>
        <p:nvSpPr>
          <p:cNvPr id="9" name="TextBox 8"/>
          <p:cNvSpPr txBox="1"/>
          <p:nvPr/>
        </p:nvSpPr>
        <p:spPr>
          <a:xfrm>
            <a:off x="5715000" y="3712463"/>
            <a:ext cx="5751576" cy="1810512"/>
          </a:xfrm>
          <a:prstGeom prst="rect">
            <a:avLst/>
          </a:prstGeom>
          <a:noFill/>
        </p:spPr>
        <p:txBody>
          <a:bodyPr wrap="square" lIns="0" rIns="0" tIns="0" bIns="0" anchor="t">
            <a:spAutoFit/>
          </a:bodyPr>
          <a:lstStyle/>
          <a:p>
            <a:pPr algn="l">
              <a:lnSpc>
                <a:spcPct val="112000"/>
              </a:lnSpc>
              <a:spcBef>
                <a:spcPts val="0"/>
              </a:spcBef>
              <a:spcAft>
                <a:spcPts val="0"/>
              </a:spcAft>
            </a:pPr>
            <a:r>
              <a:rPr sz="3000" b="0">
                <a:solidFill>
                  <a:srgbClr val="C8A15E"/>
                </a:solidFill>
                <a:latin typeface="Georgia"/>
              </a:rPr>
              <a:t>Does not the LORD go out before you?</a:t>
            </a:r>
          </a:p>
        </p:txBody>
      </p:sp>
      <p:sp>
        <p:nvSpPr>
          <p:cNvPr id="10" name="TextBox 9"/>
          <p:cNvSpPr txBox="1"/>
          <p:nvPr/>
        </p:nvSpPr>
        <p:spPr>
          <a:xfrm>
            <a:off x="722376" y="5806440"/>
            <a:ext cx="9528048" cy="347472"/>
          </a:xfrm>
          <a:prstGeom prst="rect">
            <a:avLst/>
          </a:prstGeom>
          <a:noFill/>
        </p:spPr>
        <p:txBody>
          <a:bodyPr wrap="square" lIns="0" rIns="0" tIns="0" bIns="0" anchor="t">
            <a:spAutoFit/>
          </a:bodyPr>
          <a:lstStyle/>
          <a:p>
            <a:pPr algn="l">
              <a:lnSpc>
                <a:spcPct val="100000"/>
              </a:lnSpc>
              <a:spcBef>
                <a:spcPts val="0"/>
              </a:spcBef>
              <a:spcAft>
                <a:spcPts val="0"/>
              </a:spcAft>
            </a:pPr>
            <a:r>
              <a:rPr sz="2000" b="0">
                <a:solidFill>
                  <a:srgbClr val="B9AB90"/>
                </a:solidFill>
                <a:latin typeface="Georgia"/>
              </a:rPr>
              <a:t>The victory was not Barak’s. It was the LORD’s.</a:t>
            </a:r>
          </a:p>
        </p:txBody>
      </p:sp>
      <p:sp>
        <p:nvSpPr>
          <p:cNvPr id="11" name="TextBox 10"/>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12" name="TextBox 11"/>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05 · THE OPEN DOOR</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JUDGES 4:17–20</a:t>
            </a:r>
          </a:p>
        </p:txBody>
      </p:sp>
      <p:sp>
        <p:nvSpPr>
          <p:cNvPr id="4" name="TextBox 3"/>
          <p:cNvSpPr txBox="1"/>
          <p:nvPr/>
        </p:nvSpPr>
        <p:spPr>
          <a:xfrm>
            <a:off x="722376" y="914400"/>
            <a:ext cx="10744200" cy="914400"/>
          </a:xfrm>
          <a:prstGeom prst="rect">
            <a:avLst/>
          </a:prstGeom>
          <a:noFill/>
        </p:spPr>
        <p:txBody>
          <a:bodyPr wrap="square" lIns="0" rIns="0" tIns="0" bIns="0" anchor="t">
            <a:spAutoFit/>
          </a:bodyPr>
          <a:lstStyle/>
          <a:p>
            <a:pPr algn="l">
              <a:lnSpc>
                <a:spcPct val="100000"/>
              </a:lnSpc>
              <a:spcBef>
                <a:spcPts val="0"/>
              </a:spcBef>
              <a:spcAft>
                <a:spcPts val="0"/>
              </a:spcAft>
            </a:pPr>
            <a:r>
              <a:rPr sz="4200" b="0">
                <a:solidFill>
                  <a:srgbClr val="F4ECDC"/>
                </a:solidFill>
                <a:latin typeface="Georgia"/>
              </a:rPr>
              <a:t>He ran to the wrong tent.</a:t>
            </a:r>
          </a:p>
        </p:txBody>
      </p:sp>
      <p:sp>
        <p:nvSpPr>
          <p:cNvPr id="5" name="TextBox 4"/>
          <p:cNvSpPr txBox="1"/>
          <p:nvPr/>
        </p:nvSpPr>
        <p:spPr>
          <a:xfrm>
            <a:off x="722376" y="1719072"/>
            <a:ext cx="5138928" cy="1719072"/>
          </a:xfrm>
          <a:prstGeom prst="rect">
            <a:avLst/>
          </a:prstGeom>
          <a:noFill/>
        </p:spPr>
        <p:txBody>
          <a:bodyPr wrap="square" lIns="0" rIns="0" tIns="0" bIns="0" anchor="t">
            <a:spAutoFit/>
          </a:bodyPr>
          <a:lstStyle/>
          <a:p>
            <a:pPr algn="l">
              <a:lnSpc>
                <a:spcPct val="105000"/>
              </a:lnSpc>
              <a:spcBef>
                <a:spcPts val="0"/>
              </a:spcBef>
              <a:spcAft>
                <a:spcPts val="0"/>
              </a:spcAft>
            </a:pPr>
            <a:r>
              <a:rPr sz="2400" b="0">
                <a:solidFill>
                  <a:srgbClr val="F4ECDC"/>
                </a:solidFill>
                <a:latin typeface="Georgia"/>
              </a:rPr>
              <a:t>“Turn aside, my lord; turn aside to me; do not be afraid.”</a:t>
            </a:r>
          </a:p>
        </p:txBody>
      </p:sp>
      <p:sp>
        <p:nvSpPr>
          <p:cNvPr id="6" name="TextBox 5"/>
          <p:cNvSpPr txBox="1"/>
          <p:nvPr/>
        </p:nvSpPr>
        <p:spPr>
          <a:xfrm>
            <a:off x="722376" y="3447288"/>
            <a:ext cx="5138928" cy="210312"/>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JUDGES 4:18</a:t>
            </a:r>
          </a:p>
        </p:txBody>
      </p:sp>
      <p:sp>
        <p:nvSpPr>
          <p:cNvPr id="7" name="TextBox 6"/>
          <p:cNvSpPr txBox="1"/>
          <p:nvPr/>
        </p:nvSpPr>
        <p:spPr>
          <a:xfrm>
            <a:off x="6291072" y="1810512"/>
            <a:ext cx="5184648" cy="1051560"/>
          </a:xfrm>
          <a:prstGeom prst="rect">
            <a:avLst/>
          </a:prstGeom>
          <a:noFill/>
        </p:spPr>
        <p:txBody>
          <a:bodyPr wrap="square" lIns="0" rIns="0" tIns="0" bIns="0" anchor="t">
            <a:spAutoFit/>
          </a:bodyPr>
          <a:lstStyle/>
          <a:p>
            <a:pPr algn="l">
              <a:lnSpc>
                <a:spcPct val="105000"/>
              </a:lnSpc>
              <a:spcBef>
                <a:spcPts val="0"/>
              </a:spcBef>
              <a:spcAft>
                <a:spcPts val="0"/>
              </a:spcAft>
            </a:pPr>
            <a:r>
              <a:rPr sz="2400" b="0">
                <a:solidFill>
                  <a:srgbClr val="C8A15E"/>
                </a:solidFill>
                <a:latin typeface="Georgia"/>
              </a:rPr>
              <a:t>A treaty of peace. A woman alone.</a:t>
            </a:r>
          </a:p>
        </p:txBody>
      </p:sp>
      <p:sp>
        <p:nvSpPr>
          <p:cNvPr id="8" name="TextBox 7"/>
          <p:cNvSpPr txBox="1"/>
          <p:nvPr/>
        </p:nvSpPr>
        <p:spPr>
          <a:xfrm>
            <a:off x="6291072" y="2971800"/>
            <a:ext cx="5184648" cy="75895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B9AB90"/>
                </a:solidFill>
                <a:latin typeface="Candara"/>
              </a:rPr>
              <a:t>He asked for water. She gave him milk. He asked her to lie.</a:t>
            </a:r>
          </a:p>
        </p:txBody>
      </p:sp>
      <p:sp>
        <p:nvSpPr>
          <p:cNvPr id="9" name="Rectangle 8"/>
          <p:cNvSpPr/>
          <p:nvPr/>
        </p:nvSpPr>
        <p:spPr>
          <a:xfrm>
            <a:off x="722376" y="3712463"/>
            <a:ext cx="5184648" cy="1901952"/>
          </a:xfrm>
          <a:prstGeom prst="rect">
            <a:avLst/>
          </a:prstGeom>
          <a:solidFill>
            <a:srgbClr val="F4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3941063"/>
            <a:ext cx="4645152" cy="210312"/>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6A5836"/>
                </a:solidFill>
                <a:latin typeface="Candara"/>
              </a:rPr>
              <a:t>THE COVER</a:t>
            </a:r>
          </a:p>
        </p:txBody>
      </p:sp>
      <p:sp>
        <p:nvSpPr>
          <p:cNvPr id="11" name="TextBox 10"/>
          <p:cNvSpPr txBox="1"/>
          <p:nvPr/>
        </p:nvSpPr>
        <p:spPr>
          <a:xfrm>
            <a:off x="987552" y="4169663"/>
            <a:ext cx="2852928" cy="1161288"/>
          </a:xfrm>
          <a:prstGeom prst="rect">
            <a:avLst/>
          </a:prstGeom>
          <a:noFill/>
        </p:spPr>
        <p:txBody>
          <a:bodyPr wrap="square" lIns="0" rIns="0" tIns="0" bIns="0" anchor="t">
            <a:spAutoFit/>
          </a:bodyPr>
          <a:lstStyle/>
          <a:p>
            <a:pPr algn="l">
              <a:lnSpc>
                <a:spcPct val="100000"/>
              </a:lnSpc>
              <a:spcBef>
                <a:spcPts val="0"/>
              </a:spcBef>
              <a:spcAft>
                <a:spcPts val="0"/>
              </a:spcAft>
            </a:pPr>
            <a:r>
              <a:rPr sz="6600" b="0">
                <a:solidFill>
                  <a:srgbClr val="16233A"/>
                </a:solidFill>
                <a:latin typeface="Georgia"/>
              </a:rPr>
              <a:t>RUG</a:t>
            </a:r>
          </a:p>
        </p:txBody>
      </p:sp>
      <p:sp>
        <p:nvSpPr>
          <p:cNvPr id="12" name="TextBox 11"/>
          <p:cNvSpPr txBox="1"/>
          <p:nvPr/>
        </p:nvSpPr>
        <p:spPr>
          <a:xfrm>
            <a:off x="987552" y="5349240"/>
            <a:ext cx="4645152" cy="228600"/>
          </a:xfrm>
          <a:prstGeom prst="rect">
            <a:avLst/>
          </a:prstGeom>
          <a:noFill/>
        </p:spPr>
        <p:txBody>
          <a:bodyPr wrap="square" lIns="0" rIns="0" tIns="0" bIns="0" anchor="t">
            <a:spAutoFit/>
          </a:bodyPr>
          <a:lstStyle/>
          <a:p>
            <a:pPr algn="l">
              <a:lnSpc>
                <a:spcPct val="100000"/>
              </a:lnSpc>
              <a:spcBef>
                <a:spcPts val="0"/>
              </a:spcBef>
              <a:spcAft>
                <a:spcPts val="0"/>
              </a:spcAft>
            </a:pPr>
            <a:r>
              <a:rPr sz="1400" b="0">
                <a:solidFill>
                  <a:srgbClr val="6A5836"/>
                </a:solidFill>
                <a:latin typeface="Candara"/>
              </a:rPr>
              <a:t>she covered him</a:t>
            </a:r>
          </a:p>
        </p:txBody>
      </p:sp>
      <p:sp>
        <p:nvSpPr>
          <p:cNvPr id="13" name="Rectangle 12"/>
          <p:cNvSpPr/>
          <p:nvPr/>
        </p:nvSpPr>
        <p:spPr>
          <a:xfrm>
            <a:off x="6291072" y="3712463"/>
            <a:ext cx="5184648" cy="1901952"/>
          </a:xfrm>
          <a:prstGeom prst="rect">
            <a:avLst/>
          </a:prstGeom>
          <a:solidFill>
            <a:srgbClr val="F4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3941063"/>
            <a:ext cx="4645152" cy="210312"/>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6A5836"/>
                </a:solidFill>
                <a:latin typeface="Candara"/>
              </a:rPr>
              <a:t>THE DOOR</a:t>
            </a:r>
          </a:p>
        </p:txBody>
      </p:sp>
      <p:sp>
        <p:nvSpPr>
          <p:cNvPr id="15" name="TextBox 14"/>
          <p:cNvSpPr txBox="1"/>
          <p:nvPr/>
        </p:nvSpPr>
        <p:spPr>
          <a:xfrm>
            <a:off x="6556248" y="4169663"/>
            <a:ext cx="2852928" cy="1161288"/>
          </a:xfrm>
          <a:prstGeom prst="rect">
            <a:avLst/>
          </a:prstGeom>
          <a:noFill/>
        </p:spPr>
        <p:txBody>
          <a:bodyPr wrap="square" lIns="0" rIns="0" tIns="0" bIns="0" anchor="t">
            <a:spAutoFit/>
          </a:bodyPr>
          <a:lstStyle/>
          <a:p>
            <a:pPr algn="l">
              <a:lnSpc>
                <a:spcPct val="100000"/>
              </a:lnSpc>
              <a:spcBef>
                <a:spcPts val="0"/>
              </a:spcBef>
              <a:spcAft>
                <a:spcPts val="0"/>
              </a:spcAft>
            </a:pPr>
            <a:r>
              <a:rPr sz="6600" b="0">
                <a:solidFill>
                  <a:srgbClr val="16233A"/>
                </a:solidFill>
                <a:latin typeface="Georgia"/>
              </a:rPr>
              <a:t>NO</a:t>
            </a:r>
          </a:p>
        </p:txBody>
      </p:sp>
      <p:sp>
        <p:nvSpPr>
          <p:cNvPr id="16" name="TextBox 15"/>
          <p:cNvSpPr txBox="1"/>
          <p:nvPr/>
        </p:nvSpPr>
        <p:spPr>
          <a:xfrm>
            <a:off x="6556248" y="5349240"/>
            <a:ext cx="4645152" cy="228600"/>
          </a:xfrm>
          <a:prstGeom prst="rect">
            <a:avLst/>
          </a:prstGeom>
          <a:noFill/>
        </p:spPr>
        <p:txBody>
          <a:bodyPr wrap="square" lIns="0" rIns="0" tIns="0" bIns="0" anchor="t">
            <a:spAutoFit/>
          </a:bodyPr>
          <a:lstStyle/>
          <a:p>
            <a:pPr algn="l">
              <a:lnSpc>
                <a:spcPct val="100000"/>
              </a:lnSpc>
              <a:spcBef>
                <a:spcPts val="0"/>
              </a:spcBef>
              <a:spcAft>
                <a:spcPts val="0"/>
              </a:spcAft>
            </a:pPr>
            <a:r>
              <a:rPr sz="1400" b="0">
                <a:solidFill>
                  <a:srgbClr val="6A5836"/>
                </a:solidFill>
                <a:latin typeface="Candara"/>
              </a:rPr>
              <a:t>the lie he asked for</a:t>
            </a:r>
          </a:p>
        </p:txBody>
      </p:sp>
      <p:sp>
        <p:nvSpPr>
          <p:cNvPr id="17" name="TextBox 16"/>
          <p:cNvSpPr txBox="1"/>
          <p:nvPr/>
        </p:nvSpPr>
        <p:spPr>
          <a:xfrm>
            <a:off x="722376" y="5769864"/>
            <a:ext cx="10744200" cy="530352"/>
          </a:xfrm>
          <a:prstGeom prst="rect">
            <a:avLst/>
          </a:prstGeom>
          <a:noFill/>
        </p:spPr>
        <p:txBody>
          <a:bodyPr wrap="square" lIns="0" rIns="0" tIns="0" bIns="0" anchor="t">
            <a:spAutoFit/>
          </a:bodyPr>
          <a:lstStyle/>
          <a:p>
            <a:pPr algn="l">
              <a:lnSpc>
                <a:spcPct val="105000"/>
              </a:lnSpc>
              <a:spcBef>
                <a:spcPts val="0"/>
              </a:spcBef>
              <a:spcAft>
                <a:spcPts val="0"/>
              </a:spcAft>
            </a:pPr>
            <a:r>
              <a:rPr sz="1600" b="0">
                <a:solidFill>
                  <a:srgbClr val="D8C5A1"/>
                </a:solidFill>
                <a:latin typeface="Candara"/>
              </a:rPr>
              <a:t>He thought he had found shelter. He had walked into the hand of God.</a:t>
            </a:r>
          </a:p>
        </p:txBody>
      </p:sp>
      <p:sp>
        <p:nvSpPr>
          <p:cNvPr id="18" name="TextBox 17"/>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19" name="TextBox 18"/>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06 · THE PEG</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JUDGES 4:21</a:t>
            </a:r>
          </a:p>
        </p:txBody>
      </p:sp>
      <p:sp>
        <p:nvSpPr>
          <p:cNvPr id="4" name="TextBox 3"/>
          <p:cNvSpPr txBox="1"/>
          <p:nvPr/>
        </p:nvSpPr>
        <p:spPr>
          <a:xfrm>
            <a:off x="722376" y="1810512"/>
            <a:ext cx="10744200" cy="1143000"/>
          </a:xfrm>
          <a:prstGeom prst="rect">
            <a:avLst/>
          </a:prstGeom>
          <a:noFill/>
        </p:spPr>
        <p:txBody>
          <a:bodyPr wrap="square" lIns="0" rIns="0" tIns="0" bIns="0" anchor="t">
            <a:spAutoFit/>
          </a:bodyPr>
          <a:lstStyle/>
          <a:p>
            <a:pPr algn="l">
              <a:lnSpc>
                <a:spcPct val="105000"/>
              </a:lnSpc>
              <a:spcBef>
                <a:spcPts val="0"/>
              </a:spcBef>
              <a:spcAft>
                <a:spcPts val="0"/>
              </a:spcAft>
            </a:pPr>
            <a:r>
              <a:rPr sz="6000" b="0">
                <a:solidFill>
                  <a:srgbClr val="7F8B9F"/>
                </a:solidFill>
                <a:latin typeface="Georgia"/>
              </a:rPr>
              <a:t>The hammer fell.</a:t>
            </a:r>
          </a:p>
        </p:txBody>
      </p:sp>
      <p:sp>
        <p:nvSpPr>
          <p:cNvPr id="5" name="TextBox 4"/>
          <p:cNvSpPr txBox="1"/>
          <p:nvPr/>
        </p:nvSpPr>
        <p:spPr>
          <a:xfrm>
            <a:off x="722376" y="3044952"/>
            <a:ext cx="10744200" cy="1234440"/>
          </a:xfrm>
          <a:prstGeom prst="rect">
            <a:avLst/>
          </a:prstGeom>
          <a:noFill/>
        </p:spPr>
        <p:txBody>
          <a:bodyPr wrap="square" lIns="0" rIns="0" tIns="0" bIns="0" anchor="t">
            <a:spAutoFit/>
          </a:bodyPr>
          <a:lstStyle/>
          <a:p>
            <a:pPr algn="l">
              <a:lnSpc>
                <a:spcPct val="105000"/>
              </a:lnSpc>
              <a:spcBef>
                <a:spcPts val="0"/>
              </a:spcBef>
              <a:spcAft>
                <a:spcPts val="0"/>
              </a:spcAft>
            </a:pPr>
            <a:r>
              <a:rPr sz="6000" b="0">
                <a:solidFill>
                  <a:srgbClr val="C8A15E"/>
                </a:solidFill>
                <a:latin typeface="Georgia"/>
              </a:rPr>
              <a:t>The war ended.</a:t>
            </a:r>
          </a:p>
        </p:txBody>
      </p:sp>
      <p:sp>
        <p:nvSpPr>
          <p:cNvPr id="6" name="TextBox 5"/>
          <p:cNvSpPr txBox="1"/>
          <p:nvPr/>
        </p:nvSpPr>
        <p:spPr>
          <a:xfrm>
            <a:off x="722376" y="4663440"/>
            <a:ext cx="9052560" cy="384048"/>
          </a:xfrm>
          <a:prstGeom prst="rect">
            <a:avLst/>
          </a:prstGeom>
          <a:noFill/>
        </p:spPr>
        <p:txBody>
          <a:bodyPr wrap="square" lIns="0" rIns="0" tIns="0" bIns="0" anchor="t">
            <a:spAutoFit/>
          </a:bodyPr>
          <a:lstStyle/>
          <a:p>
            <a:pPr algn="l">
              <a:lnSpc>
                <a:spcPct val="100000"/>
              </a:lnSpc>
              <a:spcBef>
                <a:spcPts val="0"/>
              </a:spcBef>
              <a:spcAft>
                <a:spcPts val="0"/>
              </a:spcAft>
            </a:pPr>
            <a:r>
              <a:rPr sz="2000" b="0">
                <a:solidFill>
                  <a:srgbClr val="B9AB90"/>
                </a:solidFill>
                <a:latin typeface="Candara"/>
              </a:rPr>
              <a:t>A woman, a peg, and the God who wins through the unlikely.</a:t>
            </a:r>
          </a:p>
        </p:txBody>
      </p:sp>
      <p:sp>
        <p:nvSpPr>
          <p:cNvPr id="7" name="TextBox 6"/>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8" name="TextBox 7"/>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07 · THE SONG</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JUDGES 5:24</a:t>
            </a:r>
          </a:p>
        </p:txBody>
      </p:sp>
      <p:sp>
        <p:nvSpPr>
          <p:cNvPr id="4" name="Rectangle 3"/>
          <p:cNvSpPr/>
          <p:nvPr/>
        </p:nvSpPr>
        <p:spPr>
          <a:xfrm>
            <a:off x="722376" y="1143000"/>
            <a:ext cx="10744200" cy="2377440"/>
          </a:xfrm>
          <a:prstGeom prst="rect">
            <a:avLst/>
          </a:prstGeom>
          <a:solidFill>
            <a:srgbClr val="F4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1527048"/>
            <a:ext cx="10131552" cy="950976"/>
          </a:xfrm>
          <a:prstGeom prst="rect">
            <a:avLst/>
          </a:prstGeom>
          <a:noFill/>
        </p:spPr>
        <p:txBody>
          <a:bodyPr wrap="square" lIns="0" rIns="0" tIns="0" bIns="0" anchor="t">
            <a:spAutoFit/>
          </a:bodyPr>
          <a:lstStyle/>
          <a:p>
            <a:pPr algn="ctr">
              <a:lnSpc>
                <a:spcPct val="100000"/>
              </a:lnSpc>
              <a:spcBef>
                <a:spcPts val="0"/>
              </a:spcBef>
              <a:spcAft>
                <a:spcPts val="0"/>
              </a:spcAft>
            </a:pPr>
            <a:r>
              <a:rPr sz="2600" b="0">
                <a:solidFill>
                  <a:srgbClr val="16233A"/>
                </a:solidFill>
                <a:latin typeface="Georgia"/>
              </a:rPr>
              <a:t>“Most blessed of women be Jael, the wife of Heber the Kenite, of tent-dwelling women most blessed.”</a:t>
            </a:r>
          </a:p>
        </p:txBody>
      </p:sp>
      <p:sp>
        <p:nvSpPr>
          <p:cNvPr id="6" name="TextBox 5"/>
          <p:cNvSpPr txBox="1"/>
          <p:nvPr/>
        </p:nvSpPr>
        <p:spPr>
          <a:xfrm>
            <a:off x="1024128" y="2587752"/>
            <a:ext cx="10131552" cy="301752"/>
          </a:xfrm>
          <a:prstGeom prst="rect">
            <a:avLst/>
          </a:prstGeom>
          <a:noFill/>
        </p:spPr>
        <p:txBody>
          <a:bodyPr wrap="square" lIns="0" rIns="0" tIns="0" bIns="0" anchor="t">
            <a:spAutoFit/>
          </a:bodyPr>
          <a:lstStyle/>
          <a:p>
            <a:pPr algn="ctr">
              <a:lnSpc>
                <a:spcPct val="100000"/>
              </a:lnSpc>
              <a:spcBef>
                <a:spcPts val="0"/>
              </a:spcBef>
              <a:spcAft>
                <a:spcPts val="0"/>
              </a:spcAft>
            </a:pPr>
            <a:r>
              <a:rPr sz="1800" b="0">
                <a:solidFill>
                  <a:srgbClr val="6A5836"/>
                </a:solidFill>
                <a:latin typeface="Candara"/>
              </a:rPr>
              <a:t>JUDGES 5:24</a:t>
            </a:r>
          </a:p>
        </p:txBody>
      </p:sp>
      <p:sp>
        <p:nvSpPr>
          <p:cNvPr id="7" name="Rectangle 6"/>
          <p:cNvSpPr/>
          <p:nvPr/>
        </p:nvSpPr>
        <p:spPr>
          <a:xfrm>
            <a:off x="10835640" y="2487168"/>
            <a:ext cx="73152" cy="1024128"/>
          </a:xfrm>
          <a:prstGeom prst="rect">
            <a:avLst/>
          </a:prstGeom>
          <a:solidFill>
            <a:srgbClr val="C8A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78440" y="2898648"/>
            <a:ext cx="987552" cy="73152"/>
          </a:xfrm>
          <a:prstGeom prst="rect">
            <a:avLst/>
          </a:prstGeom>
          <a:solidFill>
            <a:srgbClr val="C8A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4096512"/>
            <a:ext cx="10744200" cy="1426464"/>
          </a:xfrm>
          <a:prstGeom prst="rect">
            <a:avLst/>
          </a:prstGeom>
          <a:noFill/>
        </p:spPr>
        <p:txBody>
          <a:bodyPr wrap="square" lIns="0" rIns="0" tIns="0" bIns="0" anchor="t">
            <a:spAutoFit/>
          </a:bodyPr>
          <a:lstStyle/>
          <a:p>
            <a:pPr algn="l">
              <a:lnSpc>
                <a:spcPct val="108000"/>
              </a:lnSpc>
              <a:spcBef>
                <a:spcPts val="0"/>
              </a:spcBef>
              <a:spcAft>
                <a:spcPts val="0"/>
              </a:spcAft>
            </a:pPr>
            <a:r>
              <a:rPr sz="3000" b="0">
                <a:solidFill>
                  <a:srgbClr val="F4ECDC"/>
                </a:solidFill>
                <a:latin typeface="Georgia"/>
              </a:rPr>
              <a:t>An outsider held the hammer.</a:t>
            </a:r>
          </a:p>
          <a:p>
            <a:pPr algn="l">
              <a:lnSpc>
                <a:spcPct val="108000"/>
              </a:lnSpc>
              <a:spcBef>
                <a:spcPts val="0"/>
              </a:spcBef>
              <a:spcAft>
                <a:spcPts val="0"/>
              </a:spcAft>
            </a:pPr>
            <a:r>
              <a:rPr sz="3000" b="0">
                <a:solidFill>
                  <a:srgbClr val="C8A15E"/>
                </a:solidFill>
                <a:latin typeface="Georgia"/>
              </a:rPr>
              <a:t>The LORD held the victory.</a:t>
            </a:r>
          </a:p>
        </p:txBody>
      </p:sp>
      <p:sp>
        <p:nvSpPr>
          <p:cNvPr id="10" name="TextBox 9"/>
          <p:cNvSpPr txBox="1"/>
          <p:nvPr/>
        </p:nvSpPr>
        <p:spPr>
          <a:xfrm>
            <a:off x="722376" y="5623560"/>
            <a:ext cx="9052560" cy="283464"/>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B9AB90"/>
                </a:solidFill>
                <a:latin typeface="Candara"/>
              </a:rPr>
              <a:t>Blessed is the one who answers, not the one the world expects.</a:t>
            </a:r>
          </a:p>
        </p:txBody>
      </p:sp>
      <p:sp>
        <p:nvSpPr>
          <p:cNvPr id="11" name="TextBox 10"/>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12" name="TextBox 11"/>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08 · BLESSED AMONG WOMEN</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LUKE 1:42</a:t>
            </a:r>
          </a:p>
        </p:txBody>
      </p:sp>
      <p:sp>
        <p:nvSpPr>
          <p:cNvPr id="4" name="Rectangle 3"/>
          <p:cNvSpPr/>
          <p:nvPr/>
        </p:nvSpPr>
        <p:spPr>
          <a:xfrm>
            <a:off x="722376" y="1143000"/>
            <a:ext cx="10744200" cy="2377440"/>
          </a:xfrm>
          <a:prstGeom prst="rect">
            <a:avLst/>
          </a:prstGeom>
          <a:solidFill>
            <a:srgbClr val="F4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1527048"/>
            <a:ext cx="10131552" cy="950976"/>
          </a:xfrm>
          <a:prstGeom prst="rect">
            <a:avLst/>
          </a:prstGeom>
          <a:noFill/>
        </p:spPr>
        <p:txBody>
          <a:bodyPr wrap="square" lIns="0" rIns="0" tIns="0" bIns="0" anchor="t">
            <a:spAutoFit/>
          </a:bodyPr>
          <a:lstStyle/>
          <a:p>
            <a:pPr algn="ctr">
              <a:lnSpc>
                <a:spcPct val="100000"/>
              </a:lnSpc>
              <a:spcBef>
                <a:spcPts val="0"/>
              </a:spcBef>
              <a:spcAft>
                <a:spcPts val="0"/>
              </a:spcAft>
            </a:pPr>
            <a:r>
              <a:rPr sz="3000" b="0">
                <a:solidFill>
                  <a:srgbClr val="16233A"/>
                </a:solidFill>
                <a:latin typeface="Georgia"/>
              </a:rPr>
              <a:t>“Blessed are you among women, and blessed is the fruit of your womb!”</a:t>
            </a:r>
          </a:p>
        </p:txBody>
      </p:sp>
      <p:sp>
        <p:nvSpPr>
          <p:cNvPr id="6" name="TextBox 5"/>
          <p:cNvSpPr txBox="1"/>
          <p:nvPr/>
        </p:nvSpPr>
        <p:spPr>
          <a:xfrm>
            <a:off x="1024128" y="2587752"/>
            <a:ext cx="10131552" cy="301752"/>
          </a:xfrm>
          <a:prstGeom prst="rect">
            <a:avLst/>
          </a:prstGeom>
          <a:noFill/>
        </p:spPr>
        <p:txBody>
          <a:bodyPr wrap="square" lIns="0" rIns="0" tIns="0" bIns="0" anchor="t">
            <a:spAutoFit/>
          </a:bodyPr>
          <a:lstStyle/>
          <a:p>
            <a:pPr algn="ctr">
              <a:lnSpc>
                <a:spcPct val="100000"/>
              </a:lnSpc>
              <a:spcBef>
                <a:spcPts val="0"/>
              </a:spcBef>
              <a:spcAft>
                <a:spcPts val="0"/>
              </a:spcAft>
            </a:pPr>
            <a:r>
              <a:rPr sz="1800" b="0">
                <a:solidFill>
                  <a:srgbClr val="6A5836"/>
                </a:solidFill>
                <a:latin typeface="Candara"/>
              </a:rPr>
              <a:t>LUKE 1:42</a:t>
            </a:r>
          </a:p>
        </p:txBody>
      </p:sp>
      <p:sp>
        <p:nvSpPr>
          <p:cNvPr id="7" name="TextBox 6"/>
          <p:cNvSpPr txBox="1"/>
          <p:nvPr/>
        </p:nvSpPr>
        <p:spPr>
          <a:xfrm>
            <a:off x="722376" y="4096512"/>
            <a:ext cx="10744200" cy="1426464"/>
          </a:xfrm>
          <a:prstGeom prst="rect">
            <a:avLst/>
          </a:prstGeom>
          <a:noFill/>
        </p:spPr>
        <p:txBody>
          <a:bodyPr wrap="square" lIns="0" rIns="0" tIns="0" bIns="0" anchor="t">
            <a:spAutoFit/>
          </a:bodyPr>
          <a:lstStyle/>
          <a:p>
            <a:pPr algn="l">
              <a:lnSpc>
                <a:spcPct val="108000"/>
              </a:lnSpc>
              <a:spcBef>
                <a:spcPts val="0"/>
              </a:spcBef>
              <a:spcAft>
                <a:spcPts val="0"/>
              </a:spcAft>
            </a:pPr>
            <a:r>
              <a:rPr sz="3000" b="0">
                <a:solidFill>
                  <a:srgbClr val="F4ECDC"/>
                </a:solidFill>
                <a:latin typeface="Georgia"/>
              </a:rPr>
              <a:t>Jael drove a peg into the enemy.</a:t>
            </a:r>
          </a:p>
          <a:p>
            <a:pPr algn="l">
              <a:lnSpc>
                <a:spcPct val="108000"/>
              </a:lnSpc>
              <a:spcBef>
                <a:spcPts val="0"/>
              </a:spcBef>
              <a:spcAft>
                <a:spcPts val="0"/>
              </a:spcAft>
            </a:pPr>
            <a:r>
              <a:rPr sz="3000" b="0">
                <a:solidFill>
                  <a:srgbClr val="C8A15E"/>
                </a:solidFill>
                <a:latin typeface="Georgia"/>
              </a:rPr>
              <a:t>Jesus took the nails for his enemies.</a:t>
            </a:r>
          </a:p>
        </p:txBody>
      </p:sp>
      <p:sp>
        <p:nvSpPr>
          <p:cNvPr id="8" name="TextBox 7"/>
          <p:cNvSpPr txBox="1"/>
          <p:nvPr/>
        </p:nvSpPr>
        <p:spPr>
          <a:xfrm>
            <a:off x="722376" y="5623560"/>
            <a:ext cx="9052560" cy="283464"/>
          </a:xfrm>
          <a:prstGeom prst="rect">
            <a:avLst/>
          </a:prstGeom>
          <a:noFill/>
        </p:spPr>
        <p:txBody>
          <a:bodyPr wrap="square" lIns="0" rIns="0" tIns="0" bIns="0" anchor="t">
            <a:spAutoFit/>
          </a:bodyPr>
          <a:lstStyle/>
          <a:p>
            <a:pPr algn="l">
              <a:lnSpc>
                <a:spcPct val="100000"/>
              </a:lnSpc>
              <a:spcBef>
                <a:spcPts val="0"/>
              </a:spcBef>
              <a:spcAft>
                <a:spcPts val="0"/>
              </a:spcAft>
            </a:pPr>
            <a:r>
              <a:rPr sz="1700" b="0">
                <a:solidFill>
                  <a:srgbClr val="B9AB90"/>
                </a:solidFill>
                <a:latin typeface="Candara"/>
              </a:rPr>
              <a:t>One woman ended a war. One Son ended the war with God.</a:t>
            </a:r>
          </a:p>
        </p:txBody>
      </p:sp>
      <p:sp>
        <p:nvSpPr>
          <p:cNvPr id="9" name="TextBox 8"/>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10" name="TextBox 9"/>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09 · THE RESPONSE</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FOUR RESPONSES</a:t>
            </a:r>
          </a:p>
        </p:txBody>
      </p:sp>
      <p:sp>
        <p:nvSpPr>
          <p:cNvPr id="4" name="TextBox 3"/>
          <p:cNvSpPr txBox="1"/>
          <p:nvPr/>
        </p:nvSpPr>
        <p:spPr>
          <a:xfrm>
            <a:off x="722376" y="914400"/>
            <a:ext cx="10744200" cy="914400"/>
          </a:xfrm>
          <a:prstGeom prst="rect">
            <a:avLst/>
          </a:prstGeom>
          <a:noFill/>
        </p:spPr>
        <p:txBody>
          <a:bodyPr wrap="square" lIns="0" rIns="0" tIns="0" bIns="0" anchor="t">
            <a:spAutoFit/>
          </a:bodyPr>
          <a:lstStyle/>
          <a:p>
            <a:pPr algn="l">
              <a:lnSpc>
                <a:spcPct val="100000"/>
              </a:lnSpc>
              <a:spcBef>
                <a:spcPts val="0"/>
              </a:spcBef>
              <a:spcAft>
                <a:spcPts val="0"/>
              </a:spcAft>
            </a:pPr>
            <a:r>
              <a:rPr sz="4200" b="0">
                <a:solidFill>
                  <a:srgbClr val="F4ECDC"/>
                </a:solidFill>
                <a:latin typeface="Georgia"/>
              </a:rPr>
              <a:t>What do you do with the tent peg?</a:t>
            </a:r>
          </a:p>
        </p:txBody>
      </p:sp>
      <p:sp>
        <p:nvSpPr>
          <p:cNvPr id="5" name="TextBox 4"/>
          <p:cNvSpPr txBox="1"/>
          <p:nvPr/>
        </p:nvSpPr>
        <p:spPr>
          <a:xfrm>
            <a:off x="722376" y="1810512"/>
            <a:ext cx="5102352"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01</a:t>
            </a:r>
          </a:p>
        </p:txBody>
      </p:sp>
      <p:sp>
        <p:nvSpPr>
          <p:cNvPr id="6" name="TextBox 5"/>
          <p:cNvSpPr txBox="1"/>
          <p:nvPr/>
        </p:nvSpPr>
        <p:spPr>
          <a:xfrm>
            <a:off x="722376" y="2057400"/>
            <a:ext cx="5102352" cy="914400"/>
          </a:xfrm>
          <a:prstGeom prst="rect">
            <a:avLst/>
          </a:prstGeom>
          <a:noFill/>
        </p:spPr>
        <p:txBody>
          <a:bodyPr wrap="square" lIns="0" rIns="0" tIns="0" bIns="0" anchor="t">
            <a:spAutoFit/>
          </a:bodyPr>
          <a:lstStyle/>
          <a:p>
            <a:pPr algn="l">
              <a:lnSpc>
                <a:spcPct val="100000"/>
              </a:lnSpc>
              <a:spcBef>
                <a:spcPts val="0"/>
              </a:spcBef>
              <a:spcAft>
                <a:spcPts val="0"/>
              </a:spcAft>
            </a:pPr>
            <a:r>
              <a:rPr sz="3000" b="0">
                <a:solidFill>
                  <a:srgbClr val="F4ECDC"/>
                </a:solidFill>
                <a:latin typeface="Georgia"/>
              </a:rPr>
              <a:t>Do not wait</a:t>
            </a:r>
          </a:p>
          <a:p>
            <a:pPr algn="l">
              <a:lnSpc>
                <a:spcPct val="100000"/>
              </a:lnSpc>
              <a:spcBef>
                <a:spcPts val="0"/>
              </a:spcBef>
              <a:spcAft>
                <a:spcPts val="0"/>
              </a:spcAft>
            </a:pPr>
            <a:r>
              <a:rPr sz="3000" b="0">
                <a:solidFill>
                  <a:srgbClr val="F4ECDC"/>
                </a:solidFill>
                <a:latin typeface="Georgia"/>
              </a:rPr>
              <a:t>for the perfect moment.</a:t>
            </a:r>
          </a:p>
        </p:txBody>
      </p:sp>
      <p:sp>
        <p:nvSpPr>
          <p:cNvPr id="7" name="TextBox 6"/>
          <p:cNvSpPr txBox="1"/>
          <p:nvPr/>
        </p:nvSpPr>
        <p:spPr>
          <a:xfrm>
            <a:off x="722376" y="3008376"/>
            <a:ext cx="5102352" cy="658368"/>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Act in the window God gives you. Obedience is often an interruption.</a:t>
            </a:r>
          </a:p>
        </p:txBody>
      </p:sp>
      <p:sp>
        <p:nvSpPr>
          <p:cNvPr id="8" name="TextBox 7"/>
          <p:cNvSpPr txBox="1"/>
          <p:nvPr/>
        </p:nvSpPr>
        <p:spPr>
          <a:xfrm>
            <a:off x="6364224" y="1810512"/>
            <a:ext cx="5102352"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02</a:t>
            </a:r>
          </a:p>
        </p:txBody>
      </p:sp>
      <p:sp>
        <p:nvSpPr>
          <p:cNvPr id="9" name="TextBox 8"/>
          <p:cNvSpPr txBox="1"/>
          <p:nvPr/>
        </p:nvSpPr>
        <p:spPr>
          <a:xfrm>
            <a:off x="6364224" y="2057400"/>
            <a:ext cx="5102352" cy="914400"/>
          </a:xfrm>
          <a:prstGeom prst="rect">
            <a:avLst/>
          </a:prstGeom>
          <a:noFill/>
        </p:spPr>
        <p:txBody>
          <a:bodyPr wrap="square" lIns="0" rIns="0" tIns="0" bIns="0" anchor="t">
            <a:spAutoFit/>
          </a:bodyPr>
          <a:lstStyle/>
          <a:p>
            <a:pPr algn="l">
              <a:lnSpc>
                <a:spcPct val="100000"/>
              </a:lnSpc>
              <a:spcBef>
                <a:spcPts val="0"/>
              </a:spcBef>
              <a:spcAft>
                <a:spcPts val="0"/>
              </a:spcAft>
            </a:pPr>
            <a:r>
              <a:rPr sz="3000" b="0">
                <a:solidFill>
                  <a:srgbClr val="F4ECDC"/>
                </a:solidFill>
                <a:latin typeface="Georgia"/>
              </a:rPr>
              <a:t>Do not mistake</a:t>
            </a:r>
          </a:p>
          <a:p>
            <a:pPr algn="l">
              <a:lnSpc>
                <a:spcPct val="100000"/>
              </a:lnSpc>
              <a:spcBef>
                <a:spcPts val="0"/>
              </a:spcBef>
              <a:spcAft>
                <a:spcPts val="0"/>
              </a:spcAft>
            </a:pPr>
            <a:r>
              <a:rPr sz="3000" b="0">
                <a:solidFill>
                  <a:srgbClr val="F4ECDC"/>
                </a:solidFill>
                <a:latin typeface="Georgia"/>
              </a:rPr>
              <a:t>peace for passivity.</a:t>
            </a:r>
          </a:p>
        </p:txBody>
      </p:sp>
      <p:sp>
        <p:nvSpPr>
          <p:cNvPr id="10" name="TextBox 9"/>
          <p:cNvSpPr txBox="1"/>
          <p:nvPr/>
        </p:nvSpPr>
        <p:spPr>
          <a:xfrm>
            <a:off x="6364224" y="3008376"/>
            <a:ext cx="5102352" cy="658368"/>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Comfort is not the same as faithfulness. False peace is still a cage.</a:t>
            </a:r>
          </a:p>
        </p:txBody>
      </p:sp>
      <p:sp>
        <p:nvSpPr>
          <p:cNvPr id="11" name="TextBox 10"/>
          <p:cNvSpPr txBox="1"/>
          <p:nvPr/>
        </p:nvSpPr>
        <p:spPr>
          <a:xfrm>
            <a:off x="722376" y="3813048"/>
            <a:ext cx="5102352"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03</a:t>
            </a:r>
          </a:p>
        </p:txBody>
      </p:sp>
      <p:sp>
        <p:nvSpPr>
          <p:cNvPr id="12" name="TextBox 11"/>
          <p:cNvSpPr txBox="1"/>
          <p:nvPr/>
        </p:nvSpPr>
        <p:spPr>
          <a:xfrm>
            <a:off x="722376" y="4059935"/>
            <a:ext cx="5102352" cy="914400"/>
          </a:xfrm>
          <a:prstGeom prst="rect">
            <a:avLst/>
          </a:prstGeom>
          <a:noFill/>
        </p:spPr>
        <p:txBody>
          <a:bodyPr wrap="square" lIns="0" rIns="0" tIns="0" bIns="0" anchor="t">
            <a:spAutoFit/>
          </a:bodyPr>
          <a:lstStyle/>
          <a:p>
            <a:pPr algn="l">
              <a:lnSpc>
                <a:spcPct val="100000"/>
              </a:lnSpc>
              <a:spcBef>
                <a:spcPts val="0"/>
              </a:spcBef>
              <a:spcAft>
                <a:spcPts val="0"/>
              </a:spcAft>
            </a:pPr>
            <a:r>
              <a:rPr sz="3000" b="0">
                <a:solidFill>
                  <a:srgbClr val="F4ECDC"/>
                </a:solidFill>
                <a:latin typeface="Georgia"/>
              </a:rPr>
              <a:t>Use what is</a:t>
            </a:r>
          </a:p>
          <a:p>
            <a:pPr algn="l">
              <a:lnSpc>
                <a:spcPct val="100000"/>
              </a:lnSpc>
              <a:spcBef>
                <a:spcPts val="0"/>
              </a:spcBef>
              <a:spcAft>
                <a:spcPts val="0"/>
              </a:spcAft>
            </a:pPr>
            <a:r>
              <a:rPr sz="3000" b="0">
                <a:solidFill>
                  <a:srgbClr val="F4ECDC"/>
                </a:solidFill>
                <a:latin typeface="Georgia"/>
              </a:rPr>
              <a:t>in your hand.</a:t>
            </a:r>
          </a:p>
        </p:txBody>
      </p:sp>
      <p:sp>
        <p:nvSpPr>
          <p:cNvPr id="13" name="TextBox 12"/>
          <p:cNvSpPr txBox="1"/>
          <p:nvPr/>
        </p:nvSpPr>
        <p:spPr>
          <a:xfrm>
            <a:off x="722376" y="5010912"/>
            <a:ext cx="5102352" cy="658368"/>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A peg, a hammer, a home, a story. Offer the ordinary to God.</a:t>
            </a:r>
          </a:p>
        </p:txBody>
      </p:sp>
      <p:sp>
        <p:nvSpPr>
          <p:cNvPr id="14" name="TextBox 13"/>
          <p:cNvSpPr txBox="1"/>
          <p:nvPr/>
        </p:nvSpPr>
        <p:spPr>
          <a:xfrm>
            <a:off x="6364224" y="3813048"/>
            <a:ext cx="5102352" cy="192024"/>
          </a:xfrm>
          <a:prstGeom prst="rect">
            <a:avLst/>
          </a:prstGeom>
          <a:noFill/>
        </p:spPr>
        <p:txBody>
          <a:bodyPr wrap="square" lIns="0" rIns="0" tIns="0" bIns="0" anchor="t">
            <a:spAutoFit/>
          </a:bodyPr>
          <a:lstStyle/>
          <a:p>
            <a:pPr algn="l">
              <a:lnSpc>
                <a:spcPct val="100000"/>
              </a:lnSpc>
              <a:spcBef>
                <a:spcPts val="0"/>
              </a:spcBef>
              <a:spcAft>
                <a:spcPts val="0"/>
              </a:spcAft>
            </a:pPr>
            <a:r>
              <a:rPr sz="1100" b="1">
                <a:solidFill>
                  <a:srgbClr val="C8A15E"/>
                </a:solidFill>
                <a:latin typeface="Candara"/>
              </a:rPr>
              <a:t>04</a:t>
            </a:r>
          </a:p>
        </p:txBody>
      </p:sp>
      <p:sp>
        <p:nvSpPr>
          <p:cNvPr id="15" name="TextBox 14"/>
          <p:cNvSpPr txBox="1"/>
          <p:nvPr/>
        </p:nvSpPr>
        <p:spPr>
          <a:xfrm>
            <a:off x="6364224" y="4059935"/>
            <a:ext cx="5102352" cy="914400"/>
          </a:xfrm>
          <a:prstGeom prst="rect">
            <a:avLst/>
          </a:prstGeom>
          <a:noFill/>
        </p:spPr>
        <p:txBody>
          <a:bodyPr wrap="square" lIns="0" rIns="0" tIns="0" bIns="0" anchor="t">
            <a:spAutoFit/>
          </a:bodyPr>
          <a:lstStyle/>
          <a:p>
            <a:pPr algn="l">
              <a:lnSpc>
                <a:spcPct val="100000"/>
              </a:lnSpc>
              <a:spcBef>
                <a:spcPts val="0"/>
              </a:spcBef>
              <a:spcAft>
                <a:spcPts val="0"/>
              </a:spcAft>
            </a:pPr>
            <a:r>
              <a:rPr sz="3000" b="0">
                <a:solidFill>
                  <a:srgbClr val="F4ECDC"/>
                </a:solidFill>
                <a:latin typeface="Georgia"/>
              </a:rPr>
              <a:t>Give the victory</a:t>
            </a:r>
          </a:p>
          <a:p>
            <a:pPr algn="l">
              <a:lnSpc>
                <a:spcPct val="100000"/>
              </a:lnSpc>
              <a:spcBef>
                <a:spcPts val="0"/>
              </a:spcBef>
              <a:spcAft>
                <a:spcPts val="0"/>
              </a:spcAft>
            </a:pPr>
            <a:r>
              <a:rPr sz="3000" b="0">
                <a:solidFill>
                  <a:srgbClr val="F4ECDC"/>
                </a:solidFill>
                <a:latin typeface="Georgia"/>
              </a:rPr>
              <a:t>to God.</a:t>
            </a:r>
          </a:p>
        </p:txBody>
      </p:sp>
      <p:sp>
        <p:nvSpPr>
          <p:cNvPr id="16" name="TextBox 15"/>
          <p:cNvSpPr txBox="1"/>
          <p:nvPr/>
        </p:nvSpPr>
        <p:spPr>
          <a:xfrm>
            <a:off x="6364224" y="5010912"/>
            <a:ext cx="5102352" cy="658368"/>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B9AB90"/>
                </a:solidFill>
                <a:latin typeface="Candara"/>
              </a:rPr>
              <a:t>The stars fought. The river swept. The LORD won. Let Him have the glory.</a:t>
            </a:r>
          </a:p>
        </p:txBody>
      </p:sp>
      <p:sp>
        <p:nvSpPr>
          <p:cNvPr id="17" name="TextBox 16"/>
          <p:cNvSpPr txBox="1"/>
          <p:nvPr/>
        </p:nvSpPr>
        <p:spPr>
          <a:xfrm>
            <a:off x="722376" y="5907024"/>
            <a:ext cx="8577072" cy="347472"/>
          </a:xfrm>
          <a:prstGeom prst="rect">
            <a:avLst/>
          </a:prstGeom>
          <a:noFill/>
        </p:spPr>
        <p:txBody>
          <a:bodyPr wrap="square" lIns="0" rIns="0" tIns="0" bIns="0" anchor="t">
            <a:spAutoFit/>
          </a:bodyPr>
          <a:lstStyle/>
          <a:p>
            <a:pPr algn="l">
              <a:lnSpc>
                <a:spcPct val="100000"/>
              </a:lnSpc>
              <a:spcBef>
                <a:spcPts val="0"/>
              </a:spcBef>
              <a:spcAft>
                <a:spcPts val="0"/>
              </a:spcAft>
            </a:pPr>
            <a:r>
              <a:rPr sz="2000" b="0">
                <a:solidFill>
                  <a:srgbClr val="C8A15E"/>
                </a:solidFill>
                <a:latin typeface="Georgia"/>
              </a:rPr>
              <a:t>The LORD does not need a chariot. He needs a willing hand.</a:t>
            </a:r>
          </a:p>
        </p:txBody>
      </p:sp>
      <p:sp>
        <p:nvSpPr>
          <p:cNvPr id="18" name="TextBox 17"/>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19" name="TextBox 18"/>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B2E"/>
        </a:solidFill>
        <a:effectLst/>
      </p:bgPr>
    </p:bg>
    <p:spTree>
      <p:nvGrpSpPr>
        <p:cNvPr id="1" name=""/>
        <p:cNvGrpSpPr/>
        <p:nvPr/>
      </p:nvGrpSpPr>
      <p:grpSpPr/>
      <p:sp>
        <p:nvSpPr>
          <p:cNvPr id="2" name="TextBox 1"/>
          <p:cNvSpPr txBox="1"/>
          <p:nvPr/>
        </p:nvSpPr>
        <p:spPr>
          <a:xfrm>
            <a:off x="722376" y="493776"/>
            <a:ext cx="6766560" cy="228600"/>
          </a:xfrm>
          <a:prstGeom prst="rect">
            <a:avLst/>
          </a:prstGeom>
          <a:noFill/>
        </p:spPr>
        <p:txBody>
          <a:bodyPr wrap="square" lIns="0" rIns="0" tIns="0" bIns="0" anchor="t">
            <a:spAutoFit/>
          </a:bodyPr>
          <a:lstStyle/>
          <a:p>
            <a:pPr algn="l">
              <a:lnSpc>
                <a:spcPct val="100000"/>
              </a:lnSpc>
              <a:spcBef>
                <a:spcPts val="0"/>
              </a:spcBef>
              <a:spcAft>
                <a:spcPts val="0"/>
              </a:spcAft>
            </a:pPr>
            <a:r>
              <a:rPr sz="1050" b="1">
                <a:solidFill>
                  <a:srgbClr val="C8A15E"/>
                </a:solidFill>
                <a:latin typeface="Candara"/>
              </a:rPr>
              <a:t>10 · THE INVITATION</a:t>
            </a:r>
          </a:p>
        </p:txBody>
      </p:sp>
      <p:sp>
        <p:nvSpPr>
          <p:cNvPr id="3" name="TextBox 2"/>
          <p:cNvSpPr txBox="1"/>
          <p:nvPr/>
        </p:nvSpPr>
        <p:spPr>
          <a:xfrm>
            <a:off x="7315200" y="493776"/>
            <a:ext cx="4151376" cy="210312"/>
          </a:xfrm>
          <a:prstGeom prst="rect">
            <a:avLst/>
          </a:prstGeom>
          <a:noFill/>
        </p:spPr>
        <p:txBody>
          <a:bodyPr wrap="square" lIns="0" rIns="0" tIns="0" bIns="0" anchor="t">
            <a:spAutoFit/>
          </a:bodyPr>
          <a:lstStyle/>
          <a:p>
            <a:pPr algn="r">
              <a:lnSpc>
                <a:spcPct val="100000"/>
              </a:lnSpc>
              <a:spcBef>
                <a:spcPts val="0"/>
              </a:spcBef>
              <a:spcAft>
                <a:spcPts val="0"/>
              </a:spcAft>
            </a:pPr>
            <a:r>
              <a:rPr sz="900" b="0">
                <a:solidFill>
                  <a:srgbClr val="8F9AAB"/>
                </a:solidFill>
                <a:latin typeface="Candara"/>
              </a:rPr>
              <a:t>JUDGES 4:23–24</a:t>
            </a:r>
          </a:p>
        </p:txBody>
      </p:sp>
      <p:sp>
        <p:nvSpPr>
          <p:cNvPr id="4" name="TextBox 3"/>
          <p:cNvSpPr txBox="1"/>
          <p:nvPr/>
        </p:nvSpPr>
        <p:spPr>
          <a:xfrm>
            <a:off x="722376" y="1527048"/>
            <a:ext cx="10744200" cy="2093976"/>
          </a:xfrm>
          <a:prstGeom prst="rect">
            <a:avLst/>
          </a:prstGeom>
          <a:noFill/>
        </p:spPr>
        <p:txBody>
          <a:bodyPr wrap="square" lIns="0" rIns="0" tIns="0" bIns="0" anchor="t">
            <a:spAutoFit/>
          </a:bodyPr>
          <a:lstStyle/>
          <a:p>
            <a:pPr algn="l">
              <a:lnSpc>
                <a:spcPct val="100000"/>
              </a:lnSpc>
              <a:spcBef>
                <a:spcPts val="0"/>
              </a:spcBef>
              <a:spcAft>
                <a:spcPts val="0"/>
              </a:spcAft>
            </a:pPr>
            <a:r>
              <a:rPr sz="6000" b="0">
                <a:solidFill>
                  <a:srgbClr val="F4ECDC"/>
                </a:solidFill>
                <a:latin typeface="Georgia"/>
              </a:rPr>
              <a:t>The war is over.</a:t>
            </a:r>
          </a:p>
        </p:txBody>
      </p:sp>
      <p:sp>
        <p:nvSpPr>
          <p:cNvPr id="5" name="TextBox 4"/>
          <p:cNvSpPr txBox="1"/>
          <p:nvPr/>
        </p:nvSpPr>
        <p:spPr>
          <a:xfrm>
            <a:off x="1719072" y="3904487"/>
            <a:ext cx="8759952" cy="950976"/>
          </a:xfrm>
          <a:prstGeom prst="rect">
            <a:avLst/>
          </a:prstGeom>
          <a:noFill/>
        </p:spPr>
        <p:txBody>
          <a:bodyPr wrap="square" lIns="0" rIns="0" tIns="0" bIns="0" anchor="t">
            <a:spAutoFit/>
          </a:bodyPr>
          <a:lstStyle/>
          <a:p>
            <a:pPr algn="ctr">
              <a:lnSpc>
                <a:spcPct val="110000"/>
              </a:lnSpc>
              <a:spcBef>
                <a:spcPts val="0"/>
              </a:spcBef>
              <a:spcAft>
                <a:spcPts val="0"/>
              </a:spcAft>
            </a:pPr>
            <a:r>
              <a:rPr sz="2400" b="0">
                <a:solidFill>
                  <a:srgbClr val="C8A15E"/>
                </a:solidFill>
                <a:latin typeface="Georgia"/>
              </a:rPr>
              <a:t>Not because you are strong. Because he is.</a:t>
            </a:r>
          </a:p>
        </p:txBody>
      </p:sp>
      <p:sp>
        <p:nvSpPr>
          <p:cNvPr id="6" name="TextBox 5"/>
          <p:cNvSpPr txBox="1"/>
          <p:nvPr/>
        </p:nvSpPr>
        <p:spPr>
          <a:xfrm>
            <a:off x="1335024" y="5138928"/>
            <a:ext cx="9528048" cy="950976"/>
          </a:xfrm>
          <a:prstGeom prst="rect">
            <a:avLst/>
          </a:prstGeom>
          <a:noFill/>
        </p:spPr>
        <p:txBody>
          <a:bodyPr wrap="square" lIns="0" rIns="0" tIns="0" bIns="0" anchor="t">
            <a:spAutoFit/>
          </a:bodyPr>
          <a:lstStyle/>
          <a:p>
            <a:pPr algn="ctr">
              <a:lnSpc>
                <a:spcPct val="110000"/>
              </a:lnSpc>
              <a:spcBef>
                <a:spcPts val="0"/>
              </a:spcBef>
              <a:spcAft>
                <a:spcPts val="0"/>
              </a:spcAft>
            </a:pPr>
            <a:r>
              <a:rPr sz="2600" b="0">
                <a:solidFill>
                  <a:srgbClr val="F4ECDC"/>
                </a:solidFill>
                <a:latin typeface="Candara"/>
              </a:rPr>
              <a:t>Jael’s peg ended one war.</a:t>
            </a:r>
          </a:p>
          <a:p>
            <a:pPr algn="ctr">
              <a:lnSpc>
                <a:spcPct val="110000"/>
              </a:lnSpc>
              <a:spcBef>
                <a:spcPts val="0"/>
              </a:spcBef>
              <a:spcAft>
                <a:spcPts val="0"/>
              </a:spcAft>
            </a:pPr>
            <a:r>
              <a:rPr sz="2600" b="0">
                <a:solidFill>
                  <a:srgbClr val="F4ECDC"/>
                </a:solidFill>
                <a:latin typeface="Candara"/>
              </a:rPr>
              <a:t>Jesus’ cross ended the war that mattered.</a:t>
            </a:r>
          </a:p>
        </p:txBody>
      </p:sp>
      <p:sp>
        <p:nvSpPr>
          <p:cNvPr id="7" name="TextBox 6"/>
          <p:cNvSpPr txBox="1"/>
          <p:nvPr/>
        </p:nvSpPr>
        <p:spPr>
          <a:xfrm>
            <a:off x="722376" y="6437376"/>
            <a:ext cx="6665976" cy="192024"/>
          </a:xfrm>
          <a:prstGeom prst="rect">
            <a:avLst/>
          </a:prstGeom>
          <a:noFill/>
        </p:spPr>
        <p:txBody>
          <a:bodyPr wrap="square" lIns="0" rIns="0" tIns="0" bIns="0" anchor="t">
            <a:spAutoFit/>
          </a:bodyPr>
          <a:lstStyle/>
          <a:p>
            <a:pPr algn="l">
              <a:lnSpc>
                <a:spcPct val="100000"/>
              </a:lnSpc>
              <a:spcBef>
                <a:spcPts val="0"/>
              </a:spcBef>
              <a:spcAft>
                <a:spcPts val="0"/>
              </a:spcAft>
            </a:pPr>
            <a:r>
              <a:rPr sz="850" b="0">
                <a:solidFill>
                  <a:srgbClr val="66748B"/>
                </a:solidFill>
                <a:latin typeface="Candara"/>
              </a:rPr>
              <a:t>PREACH THE FORGOTTEN · SERMON KIT 5</a:t>
            </a:r>
          </a:p>
        </p:txBody>
      </p:sp>
      <p:sp>
        <p:nvSpPr>
          <p:cNvPr id="8" name="TextBox 7"/>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423"/>
        </a:solidFill>
        <a:effectLst/>
      </p:bgPr>
    </p:bg>
    <p:spTree>
      <p:nvGrpSpPr>
        <p:cNvPr id="1" name=""/>
        <p:cNvGrpSpPr/>
        <p:nvPr/>
      </p:nvGrpSpPr>
      <p:grpSpPr/>
      <p:pic>
        <p:nvPicPr>
          <p:cNvPr id="2" name="Picture 1" descr="cover-kit-05.png"/>
          <p:cNvPicPr>
            <a:picLocks noChangeAspect="1"/>
          </p:cNvPicPr>
          <p:nvPr/>
        </p:nvPicPr>
        <p:blipFill>
          <a:blip r:embed="rId2"/>
          <a:srcRect l="31131" r="31131"/>
          <a:stretch>
            <a:fillRect/>
          </a:stretch>
        </p:blipFill>
        <p:spPr>
          <a:xfrm>
            <a:off x="0" y="0"/>
            <a:ext cx="12191969" cy="6858000"/>
          </a:xfrm>
          <a:prstGeom prst="rect">
            <a:avLst/>
          </a:prstGeom>
        </p:spPr>
      </p:pic>
      <p:sp>
        <p:nvSpPr>
          <p:cNvPr id="3" name="Rectangle 2"/>
          <p:cNvSpPr/>
          <p:nvPr/>
        </p:nvSpPr>
        <p:spPr>
          <a:xfrm>
            <a:off x="0" y="0"/>
            <a:ext cx="12191969" cy="6858000"/>
          </a:xfrm>
          <a:prstGeom prst="rect">
            <a:avLst/>
          </a:prstGeom>
          <a:solidFill>
            <a:srgbClr val="0A1423">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35024" y="493776"/>
            <a:ext cx="9528048" cy="228600"/>
          </a:xfrm>
          <a:prstGeom prst="rect">
            <a:avLst/>
          </a:prstGeom>
          <a:noFill/>
        </p:spPr>
        <p:txBody>
          <a:bodyPr wrap="square" lIns="0" rIns="0" tIns="0" bIns="0" anchor="t">
            <a:spAutoFit/>
          </a:bodyPr>
          <a:lstStyle/>
          <a:p>
            <a:pPr algn="ctr">
              <a:lnSpc>
                <a:spcPct val="100000"/>
              </a:lnSpc>
              <a:spcBef>
                <a:spcPts val="0"/>
              </a:spcBef>
              <a:spcAft>
                <a:spcPts val="0"/>
              </a:spcAft>
            </a:pPr>
            <a:r>
              <a:rPr sz="900" b="0">
                <a:solidFill>
                  <a:srgbClr val="C8A15E"/>
                </a:solidFill>
                <a:latin typeface="Candara"/>
              </a:rPr>
              <a:t>SILENCED SAINTS · PREACH THE FORGOTTEN · SERMON KIT 5</a:t>
            </a:r>
          </a:p>
        </p:txBody>
      </p:sp>
      <p:sp>
        <p:nvSpPr>
          <p:cNvPr id="5" name="TextBox 4"/>
          <p:cNvSpPr txBox="1"/>
          <p:nvPr/>
        </p:nvSpPr>
        <p:spPr>
          <a:xfrm>
            <a:off x="1335024" y="1673352"/>
            <a:ext cx="9528048" cy="2377440"/>
          </a:xfrm>
          <a:prstGeom prst="rect">
            <a:avLst/>
          </a:prstGeom>
          <a:noFill/>
        </p:spPr>
        <p:txBody>
          <a:bodyPr wrap="square" lIns="0" rIns="0" tIns="0" bIns="0" anchor="t">
            <a:spAutoFit/>
          </a:bodyPr>
          <a:lstStyle/>
          <a:p>
            <a:pPr algn="ctr">
              <a:lnSpc>
                <a:spcPct val="105000"/>
              </a:lnSpc>
              <a:spcBef>
                <a:spcPts val="0"/>
              </a:spcBef>
              <a:spcAft>
                <a:spcPts val="0"/>
              </a:spcAft>
            </a:pPr>
            <a:r>
              <a:rPr sz="5400" b="0">
                <a:solidFill>
                  <a:srgbClr val="F4ECDC"/>
                </a:solidFill>
                <a:latin typeface="Georgia"/>
              </a:rPr>
              <a:t>The tent peg</a:t>
            </a:r>
          </a:p>
          <a:p>
            <a:pPr algn="ctr">
              <a:lnSpc>
                <a:spcPct val="105000"/>
              </a:lnSpc>
              <a:spcBef>
                <a:spcPts val="0"/>
              </a:spcBef>
              <a:spcAft>
                <a:spcPts val="0"/>
              </a:spcAft>
            </a:pPr>
            <a:r>
              <a:rPr sz="5400" b="0">
                <a:solidFill>
                  <a:srgbClr val="F4ECDC"/>
                </a:solidFill>
                <a:latin typeface="Georgia"/>
              </a:rPr>
              <a:t>ended a war.</a:t>
            </a:r>
          </a:p>
        </p:txBody>
      </p:sp>
      <p:sp>
        <p:nvSpPr>
          <p:cNvPr id="6" name="TextBox 5"/>
          <p:cNvSpPr txBox="1"/>
          <p:nvPr/>
        </p:nvSpPr>
        <p:spPr>
          <a:xfrm>
            <a:off x="1335024" y="4251960"/>
            <a:ext cx="9528048" cy="475488"/>
          </a:xfrm>
          <a:prstGeom prst="rect">
            <a:avLst/>
          </a:prstGeom>
          <a:noFill/>
        </p:spPr>
        <p:txBody>
          <a:bodyPr wrap="square" lIns="0" rIns="0" tIns="0" bIns="0" anchor="t">
            <a:spAutoFit/>
          </a:bodyPr>
          <a:lstStyle/>
          <a:p>
            <a:pPr algn="ctr">
              <a:lnSpc>
                <a:spcPct val="100000"/>
              </a:lnSpc>
              <a:spcBef>
                <a:spcPts val="0"/>
              </a:spcBef>
              <a:spcAft>
                <a:spcPts val="0"/>
              </a:spcAft>
            </a:pPr>
            <a:r>
              <a:rPr sz="2200" b="0">
                <a:solidFill>
                  <a:srgbClr val="C8A15E"/>
                </a:solidFill>
                <a:latin typeface="Georgia"/>
              </a:rPr>
              <a:t>The nails ended the enmity.</a:t>
            </a:r>
          </a:p>
        </p:txBody>
      </p:sp>
      <p:sp>
        <p:nvSpPr>
          <p:cNvPr id="7" name="TextBox 6"/>
          <p:cNvSpPr txBox="1"/>
          <p:nvPr/>
        </p:nvSpPr>
        <p:spPr>
          <a:xfrm>
            <a:off x="1335024" y="4956048"/>
            <a:ext cx="9528048" cy="758952"/>
          </a:xfrm>
          <a:prstGeom prst="rect">
            <a:avLst/>
          </a:prstGeom>
          <a:noFill/>
        </p:spPr>
        <p:txBody>
          <a:bodyPr wrap="square" lIns="0" rIns="0" tIns="0" bIns="0" anchor="t">
            <a:spAutoFit/>
          </a:bodyPr>
          <a:lstStyle/>
          <a:p>
            <a:pPr algn="ctr">
              <a:lnSpc>
                <a:spcPct val="120000"/>
              </a:lnSpc>
              <a:spcBef>
                <a:spcPts val="0"/>
              </a:spcBef>
              <a:spcAft>
                <a:spcPts val="0"/>
              </a:spcAft>
            </a:pPr>
            <a:r>
              <a:rPr sz="2000" b="0">
                <a:solidFill>
                  <a:srgbClr val="F4ECDC"/>
                </a:solidFill>
                <a:latin typeface="Candara"/>
              </a:rPr>
              <a:t>The sun has risen. The door is open. Go in peace.</a:t>
            </a:r>
          </a:p>
        </p:txBody>
      </p:sp>
      <p:sp>
        <p:nvSpPr>
          <p:cNvPr id="8" name="TextBox 7"/>
          <p:cNvSpPr txBox="1"/>
          <p:nvPr/>
        </p:nvSpPr>
        <p:spPr>
          <a:xfrm>
            <a:off x="1335024" y="6153912"/>
            <a:ext cx="9528048" cy="210312"/>
          </a:xfrm>
          <a:prstGeom prst="rect">
            <a:avLst/>
          </a:prstGeom>
          <a:noFill/>
        </p:spPr>
        <p:txBody>
          <a:bodyPr wrap="square" lIns="0" rIns="0" tIns="0" bIns="0" anchor="t">
            <a:spAutoFit/>
          </a:bodyPr>
          <a:lstStyle/>
          <a:p>
            <a:pPr algn="ctr">
              <a:lnSpc>
                <a:spcPct val="100000"/>
              </a:lnSpc>
              <a:spcBef>
                <a:spcPts val="0"/>
              </a:spcBef>
              <a:spcAft>
                <a:spcPts val="0"/>
              </a:spcAft>
            </a:pPr>
            <a:r>
              <a:rPr sz="850" b="0">
                <a:solidFill>
                  <a:srgbClr val="8F9AAB"/>
                </a:solidFill>
                <a:latin typeface="Candara"/>
              </a:rPr>
              <a:t>FIRST EDITION · OCTOBER 2026</a:t>
            </a:r>
          </a:p>
        </p:txBody>
      </p:sp>
      <p:sp>
        <p:nvSpPr>
          <p:cNvPr id="9" name="TextBox 8"/>
          <p:cNvSpPr txBox="1"/>
          <p:nvPr/>
        </p:nvSpPr>
        <p:spPr>
          <a:xfrm>
            <a:off x="10479024" y="6437376"/>
            <a:ext cx="987552" cy="192024"/>
          </a:xfrm>
          <a:prstGeom prst="rect">
            <a:avLst/>
          </a:prstGeom>
          <a:noFill/>
        </p:spPr>
        <p:txBody>
          <a:bodyPr wrap="square" lIns="0" rIns="0" tIns="0" bIns="0" anchor="t">
            <a:spAutoFit/>
          </a:bodyPr>
          <a:lstStyle/>
          <a:p>
            <a:pPr algn="r">
              <a:lnSpc>
                <a:spcPct val="100000"/>
              </a:lnSpc>
              <a:spcBef>
                <a:spcPts val="0"/>
              </a:spcBef>
              <a:spcAft>
                <a:spcPts val="0"/>
              </a:spcAft>
            </a:pPr>
            <a:r>
              <a:rPr sz="900" b="1">
                <a:solidFill>
                  <a:srgbClr val="C8A15E"/>
                </a:solidFill>
                <a:latin typeface="Candara"/>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Woman Who Ended the War — Sermon Kit 5: Jael</dc:title>
  <dc:subject>Sermon manuscript for Jael, Sermon Kit 5</dc:subject>
  <dc:creator>Silenced Saints</dc:creator>
  <cp:keywords>Jael, Judges 4, Deborah, Barak, Sisera, tent peg, Judges 5, Preach the Forgotten, Sermon Kit 5, preaching manuscript, Silenced Saints</cp:keywords>
  <dc:description>Editable preaching manuscript. ESV quotations. One-page outline and small-group guide sold separately in Sermon Kit 5.</dc:description>
  <cp:lastModifiedBy>Steve Canny</cp:lastModifiedBy>
  <cp:revision>1</cp:revision>
  <dcterms:created xsi:type="dcterms:W3CDTF">2013-01-27T09:14:16Z</dcterms:created>
  <dcterms:modified xsi:type="dcterms:W3CDTF">2013-01-27T09:15:58Z</dcterms:modified>
  <cp:category>Sermon slides</cp:category>
</cp:coreProperties>
</file>