
<file path=[Content_Types].xml><?xml version="1.0" encoding="utf-8"?>
<Types xmlns="http://schemas.openxmlformats.org/package/2006/content-types"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4"/>
    <p:sldId id="260" r:id="rId6"/>
    <p:sldId id="261" r:id="rId7"/>
    <p:sldId id="262" r:id="rId8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EB2D517D-0AFC-4308-B05A-9F600E4A0C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2678942C-5330-4667-A1D7-15403C102746}"/>
              </a:ext>
            </a:extLst>
          </p:cNvPr>
          <p:cNvSpPr txBox="1"/>
          <p:nvPr/>
        </p:nvSpPr>
        <p:spPr>
          <a:xfrm>
            <a:off x="723900" y="495300"/>
            <a:ext cx="6191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  <a:ea typeface="Candara"/>
              </a:rPr>
              <a:t>SILENCED SAINTS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7FEAF1F-0D6A-4194-8165-290F7CDD761F}"/>
              </a:ext>
            </a:extLst>
          </p:cNvPr>
          <p:cNvSpPr txBox="1"/>
          <p:nvPr/>
        </p:nvSpPr>
        <p:spPr>
          <a:xfrm>
            <a:off x="723900" y="819150"/>
            <a:ext cx="619125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D8C5A1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F70948C-2B0D-4450-9520-2677F0A2CFCF}"/>
              </a:ext>
            </a:extLst>
          </p:cNvPr>
          <p:cNvSpPr txBox="1"/>
          <p:nvPr/>
        </p:nvSpPr>
        <p:spPr>
          <a:xfrm>
            <a:off x="704850" y="1752600"/>
            <a:ext cx="6762750" cy="2571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200">
                <a:solidFill>
                  <a:srgbClr val="F4ECDC"/>
                </a:solidFill>
                <a:latin typeface="Georgia"/>
                <a:ea typeface="Georgia"/>
              </a:rPr>
              <a:t>What the Room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7200">
                <a:solidFill>
                  <a:srgbClr val="F4ECDC"/>
                </a:solidFill>
                <a:latin typeface="Georgia"/>
                <a:ea typeface="Georgia"/>
              </a:rPr>
              <a:t>Called Waste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74B75DC-328C-4038-B13F-2B7062D1091A}"/>
              </a:ext>
            </a:extLst>
          </p:cNvPr>
          <p:cNvSpPr txBox="1"/>
          <p:nvPr/>
        </p:nvSpPr>
        <p:spPr>
          <a:xfrm>
            <a:off x="723900" y="4514850"/>
            <a:ext cx="619125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i="1">
                <a:solidFill>
                  <a:srgbClr val="C8A15E"/>
                </a:solidFill>
                <a:latin typeface="Georgia"/>
                <a:ea typeface="Georgia"/>
              </a:rPr>
              <a:t>Mary of Bethany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FB07B0-FBCA-4985-85A2-AABBEEC6A97D}"/>
              </a:ext>
            </a:extLst>
          </p:cNvPr>
          <p:cNvSpPr txBox="1"/>
          <p:nvPr/>
        </p:nvSpPr>
        <p:spPr>
          <a:xfrm>
            <a:off x="723900" y="5086350"/>
            <a:ext cx="6191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4ECDC"/>
                </a:solidFill>
                <a:latin typeface="Candara"/>
                <a:ea typeface="Candara"/>
              </a:rPr>
              <a:t>John 12:1–8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782180C-CB4D-4B81-AC4D-81933920066B}"/>
              </a:ext>
            </a:extLst>
          </p:cNvPr>
          <p:cNvSpPr txBox="1"/>
          <p:nvPr/>
        </p:nvSpPr>
        <p:spPr>
          <a:xfrm>
            <a:off x="723900" y="58674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B9AB90"/>
                </a:solidFill>
                <a:latin typeface="Candara"/>
                <a:ea typeface="Candara"/>
              </a:rPr>
              <a:t>A SERMON FOR THE PULPIT · 55–60 MINUTES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FE769C3-A55E-4D63-AF74-2F3295FDCB15}"/>
              </a:ext>
            </a:extLst>
          </p:cNvPr>
          <p:cNvSpPr txBox="1"/>
          <p:nvPr/>
        </p:nvSpPr>
        <p:spPr>
          <a:xfrm>
            <a:off x="723900" y="6153150"/>
            <a:ext cx="619125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8F9AAB"/>
                </a:solidFill>
                <a:latin typeface="Candara"/>
                <a:ea typeface="Candara"/>
              </a:rPr>
              <a:t>FIRST EDITION ·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7D8EC70-1DB4-4F2A-9CE0-B6968B2FC10D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01 · THE BIG IDEA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40FB3A-C7E7-4018-8BE5-1D021F624237}"/>
              </a:ext>
            </a:extLst>
          </p:cNvPr>
          <p:cNvSpPr txBox="1"/>
          <p:nvPr/>
        </p:nvSpPr>
        <p:spPr>
          <a:xfrm>
            <a:off x="9048750" y="495300"/>
            <a:ext cx="241935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JOHN 12:1–8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7E9CE6D-0CB8-4AE6-96D5-D46AB16108D1}"/>
              </a:ext>
            </a:extLst>
          </p:cNvPr>
          <p:cNvSpPr txBox="1"/>
          <p:nvPr/>
        </p:nvSpPr>
        <p:spPr>
          <a:xfrm>
            <a:off x="723900" y="1676400"/>
            <a:ext cx="10744200" cy="24963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>
                <a:solidFill>
                  <a:srgbClr val="F4ECDC"/>
                </a:solidFill>
                <a:latin typeface="Georgia"/>
                <a:ea typeface="Georgia"/>
              </a:rPr>
              <a:t>Love that has understood the cross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>
                <a:solidFill>
                  <a:srgbClr val="F4ECDC"/>
                </a:solidFill>
                <a:latin typeface="Georgia"/>
                <a:ea typeface="Georgia"/>
              </a:rPr>
              <a:t>stops calculating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0">
                <a:solidFill>
                  <a:srgbClr val="F4ECDC"/>
                </a:solidFill>
                <a:latin typeface="Georgia"/>
                <a:ea typeface="Georgia"/>
              </a:rPr>
              <a:t>what devotion is worth.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D7A30CA-0B67-44D3-B346-41432B642BA3}"/>
              </a:ext>
            </a:extLst>
          </p:cNvPr>
          <p:cNvSpPr txBox="1"/>
          <p:nvPr/>
        </p:nvSpPr>
        <p:spPr>
          <a:xfrm>
            <a:off x="723900" y="4400550"/>
            <a:ext cx="7810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B9AB90"/>
                </a:solidFill>
                <a:latin typeface="Candara"/>
                <a:ea typeface="Candara"/>
              </a:rPr>
              <a:t>The cross is where the question “What is Jesus worth?” gets its answer.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AEEF502-67A1-479A-AA08-5D8CA01822FA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B70433-2757-4C9D-B5DA-40F4CCA2B14D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02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0483F85-6E92-48C8-9B50-B54FEF589462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02 · THE ROOM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4AB657D-0FBF-4E80-88EB-BD8F4FCFAB22}"/>
              </a:ext>
            </a:extLst>
          </p:cNvPr>
          <p:cNvSpPr txBox="1"/>
          <p:nvPr/>
        </p:nvSpPr>
        <p:spPr>
          <a:xfrm>
            <a:off x="8572500" y="495300"/>
            <a:ext cx="289560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SIX DAYS BEFORE PASSOVER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C3AD745-F62D-42DB-880D-659821ED60BD}"/>
              </a:ext>
            </a:extLst>
          </p:cNvPr>
          <p:cNvSpPr txBox="1"/>
          <p:nvPr/>
        </p:nvSpPr>
        <p:spPr>
          <a:xfrm>
            <a:off x="723900" y="914400"/>
            <a:ext cx="102870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>
                <a:solidFill>
                  <a:srgbClr val="F4ECDC"/>
                </a:solidFill>
                <a:latin typeface="Georgia"/>
                <a:ea typeface="Georgia"/>
              </a:rPr>
              <a:t>The room was full of evidence.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28ED7D9-ADBC-4D9C-BC98-87F38646B2B6}"/>
              </a:ext>
            </a:extLst>
          </p:cNvPr>
          <p:cNvSpPr txBox="1"/>
          <p:nvPr/>
        </p:nvSpPr>
        <p:spPr>
          <a:xfrm>
            <a:off x="723900" y="1962150"/>
            <a:ext cx="2476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I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FAF9BF9-DD41-4069-8258-6F548317A646}"/>
              </a:ext>
            </a:extLst>
          </p:cNvPr>
          <p:cNvSpPr txBox="1"/>
          <p:nvPr/>
        </p:nvSpPr>
        <p:spPr>
          <a:xfrm>
            <a:off x="723900" y="224790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Simon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79B6836-BA85-4B56-957F-446BC21122C0}"/>
              </a:ext>
            </a:extLst>
          </p:cNvPr>
          <p:cNvSpPr txBox="1"/>
          <p:nvPr/>
        </p:nvSpPr>
        <p:spPr>
          <a:xfrm>
            <a:off x="723900" y="2952750"/>
            <a:ext cx="2476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Known as a leper.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He hosted the table.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E29BA7C-96AB-46D5-9F00-7300CF2B0619}"/>
              </a:ext>
            </a:extLst>
          </p:cNvPr>
          <p:cNvSpPr txBox="1"/>
          <p:nvPr/>
        </p:nvSpPr>
        <p:spPr>
          <a:xfrm>
            <a:off x="3486150" y="1962150"/>
            <a:ext cx="2476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II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DCBD5D5-F451-401F-9D86-630C81E4FFE6}"/>
              </a:ext>
            </a:extLst>
          </p:cNvPr>
          <p:cNvSpPr txBox="1"/>
          <p:nvPr/>
        </p:nvSpPr>
        <p:spPr>
          <a:xfrm>
            <a:off x="3486150" y="224790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Lazarus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1AEFCD-DE06-4F94-8419-E0B10A3F939A}"/>
              </a:ext>
            </a:extLst>
          </p:cNvPr>
          <p:cNvSpPr txBox="1"/>
          <p:nvPr/>
        </p:nvSpPr>
        <p:spPr>
          <a:xfrm>
            <a:off x="3486150" y="2952750"/>
            <a:ext cx="2476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Four days dead.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Then eating dinner.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1CC3E42-AF52-4CA3-BAF8-BE2AE19EBAF9}"/>
              </a:ext>
            </a:extLst>
          </p:cNvPr>
          <p:cNvSpPr txBox="1"/>
          <p:nvPr/>
        </p:nvSpPr>
        <p:spPr>
          <a:xfrm>
            <a:off x="6248400" y="1962150"/>
            <a:ext cx="2476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III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1744850-703A-4C38-ADBF-4B2BA196EC4A}"/>
              </a:ext>
            </a:extLst>
          </p:cNvPr>
          <p:cNvSpPr txBox="1"/>
          <p:nvPr/>
        </p:nvSpPr>
        <p:spPr>
          <a:xfrm>
            <a:off x="6248400" y="224790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Martha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1AFADBB-F9F2-401D-B604-E34D49A84612}"/>
              </a:ext>
            </a:extLst>
          </p:cNvPr>
          <p:cNvSpPr txBox="1"/>
          <p:nvPr/>
        </p:nvSpPr>
        <p:spPr>
          <a:xfrm>
            <a:off x="6248400" y="2952750"/>
            <a:ext cx="2476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Serving the brother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Jesus raised.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1D8C9F2-551A-4314-9121-4B14C9BD46F2}"/>
              </a:ext>
            </a:extLst>
          </p:cNvPr>
          <p:cNvSpPr txBox="1"/>
          <p:nvPr/>
        </p:nvSpPr>
        <p:spPr>
          <a:xfrm>
            <a:off x="9010650" y="1962150"/>
            <a:ext cx="2476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IV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73D15F4-80D6-4DDB-A4CA-D77A8C64F3A1}"/>
              </a:ext>
            </a:extLst>
          </p:cNvPr>
          <p:cNvSpPr txBox="1"/>
          <p:nvPr/>
        </p:nvSpPr>
        <p:spPr>
          <a:xfrm>
            <a:off x="9010650" y="2247900"/>
            <a:ext cx="2476500" cy="609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Jesus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E59AA0B-2E4D-469E-AEEC-2B4FCFB14C8F}"/>
              </a:ext>
            </a:extLst>
          </p:cNvPr>
          <p:cNvSpPr txBox="1"/>
          <p:nvPr/>
        </p:nvSpPr>
        <p:spPr>
          <a:xfrm>
            <a:off x="9010650" y="2952750"/>
            <a:ext cx="24765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The wanted man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who came anyway.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94300C97-6B70-44B8-95C6-21199A4BC162}"/>
              </a:ext>
            </a:extLst>
          </p:cNvPr>
          <p:cNvSpPr/>
          <p:nvPr/>
        </p:nvSpPr>
        <p:spPr>
          <a:xfrm>
            <a:off x="723900" y="4286250"/>
            <a:ext cx="10744200" cy="1219200"/>
          </a:xfrm>
          <a:prstGeom prst="rect">
            <a:avLst/>
          </a:prstGeom>
          <a:solidFill>
            <a:srgbClr val="F4ECD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3D7B698-9E02-48F6-82B2-4389F6B3B533}"/>
              </a:ext>
            </a:extLst>
          </p:cNvPr>
          <p:cNvSpPr txBox="1"/>
          <p:nvPr/>
        </p:nvSpPr>
        <p:spPr>
          <a:xfrm>
            <a:off x="1028700" y="4511040"/>
            <a:ext cx="10134600" cy="73152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i="1">
                <a:solidFill>
                  <a:srgbClr val="16233A"/>
                </a:solidFill>
                <a:latin typeface="Georgia"/>
                <a:ea typeface="Georgia"/>
              </a:rPr>
              <a:t>The room was full of evidence.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i="1">
                <a:solidFill>
                  <a:srgbClr val="16233A"/>
                </a:solidFill>
                <a:latin typeface="Georgia"/>
                <a:ea typeface="Georgia"/>
              </a:rPr>
              <a:t>And the room was about to call love a waste.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55DED2A-E04B-43B3-BDAD-E43C1A70A2C4}"/>
              </a:ext>
            </a:extLst>
          </p:cNvPr>
          <p:cNvSpPr txBox="1"/>
          <p:nvPr/>
        </p:nvSpPr>
        <p:spPr>
          <a:xfrm>
            <a:off x="723900" y="5734050"/>
            <a:ext cx="78105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C8A15E"/>
                </a:solidFill>
                <a:latin typeface="Candara"/>
                <a:ea typeface="Candara"/>
              </a:rPr>
              <a:t>Evidence is not the same thing as faith.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2C76CA3-6E8C-4AE3-8F2C-352A3E9A34E5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19B779A-3C9B-4952-9663-90A5AA60A9D2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03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C63E3E6-0865-41E9-BD18-DC9E07AAB60D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03 · THE DISCIPLE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0861B4B-C575-4736-9A50-E7989E9350D6}"/>
              </a:ext>
            </a:extLst>
          </p:cNvPr>
          <p:cNvSpPr txBox="1"/>
          <p:nvPr/>
        </p:nvSpPr>
        <p:spPr>
          <a:xfrm>
            <a:off x="8572500" y="495300"/>
            <a:ext cx="289560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THREE SCENES AT HIS FEET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9FFA3BE-5774-4569-931C-B3CCB911A30D}"/>
              </a:ext>
            </a:extLst>
          </p:cNvPr>
          <p:cNvSpPr txBox="1"/>
          <p:nvPr/>
        </p:nvSpPr>
        <p:spPr>
          <a:xfrm>
            <a:off x="723900" y="914400"/>
            <a:ext cx="8572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>
                <a:solidFill>
                  <a:srgbClr val="F4ECDC"/>
                </a:solidFill>
                <a:latin typeface="Georgia"/>
                <a:ea typeface="Georgia"/>
              </a:rPr>
              <a:t>She had been listening.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07547F6-A1D7-4100-BB04-4C56115174EB}"/>
              </a:ext>
            </a:extLst>
          </p:cNvPr>
          <p:cNvSpPr txBox="1"/>
          <p:nvPr/>
        </p:nvSpPr>
        <p:spPr>
          <a:xfrm>
            <a:off x="723900" y="1809750"/>
            <a:ext cx="34290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I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CB3874A-8476-408F-A1B8-1C8BE9BA84A6}"/>
              </a:ext>
            </a:extLst>
          </p:cNvPr>
          <p:cNvSpPr txBox="1"/>
          <p:nvPr/>
        </p:nvSpPr>
        <p:spPr>
          <a:xfrm>
            <a:off x="723900" y="2057400"/>
            <a:ext cx="34290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  <a:ea typeface="Candara"/>
              </a:rPr>
              <a:t>LUKE 10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5CC4822-5D49-4696-9EA3-5CDA7963921A}"/>
              </a:ext>
            </a:extLst>
          </p:cNvPr>
          <p:cNvSpPr txBox="1"/>
          <p:nvPr/>
        </p:nvSpPr>
        <p:spPr>
          <a:xfrm>
            <a:off x="723900" y="2343150"/>
            <a:ext cx="3429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She sat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i="1">
                <a:solidFill>
                  <a:srgbClr val="C8A15E"/>
                </a:solidFill>
                <a:latin typeface="Georgia"/>
                <a:ea typeface="Georgia"/>
              </a:rPr>
              <a:t>at his feet.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13E7F85-6A96-49B6-94C1-EF8DEFBE4D98}"/>
              </a:ext>
            </a:extLst>
          </p:cNvPr>
          <p:cNvSpPr txBox="1"/>
          <p:nvPr/>
        </p:nvSpPr>
        <p:spPr>
          <a:xfrm>
            <a:off x="723900" y="3733800"/>
            <a:ext cx="3429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She chose the good portion.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DDA5AE3-AB12-48CE-A975-A3CFEF11775B}"/>
              </a:ext>
            </a:extLst>
          </p:cNvPr>
          <p:cNvSpPr txBox="1"/>
          <p:nvPr/>
        </p:nvSpPr>
        <p:spPr>
          <a:xfrm>
            <a:off x="4381500" y="1809750"/>
            <a:ext cx="34290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II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7A44C1-F4CD-4ABF-8334-8A4A0AAE457C}"/>
              </a:ext>
            </a:extLst>
          </p:cNvPr>
          <p:cNvSpPr txBox="1"/>
          <p:nvPr/>
        </p:nvSpPr>
        <p:spPr>
          <a:xfrm>
            <a:off x="4381500" y="2057400"/>
            <a:ext cx="34290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  <a:ea typeface="Candara"/>
              </a:rPr>
              <a:t>JOHN 11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0C3A088-8946-4940-886E-E7E1113FB714}"/>
              </a:ext>
            </a:extLst>
          </p:cNvPr>
          <p:cNvSpPr txBox="1"/>
          <p:nvPr/>
        </p:nvSpPr>
        <p:spPr>
          <a:xfrm>
            <a:off x="4381500" y="2343150"/>
            <a:ext cx="3429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She wept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i="1">
                <a:solidFill>
                  <a:srgbClr val="C8A15E"/>
                </a:solidFill>
                <a:latin typeface="Georgia"/>
                <a:ea typeface="Georgia"/>
              </a:rPr>
              <a:t>at his feet.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413733E-7930-47A2-A95A-6CF361B2A81B}"/>
              </a:ext>
            </a:extLst>
          </p:cNvPr>
          <p:cNvSpPr txBox="1"/>
          <p:nvPr/>
        </p:nvSpPr>
        <p:spPr>
          <a:xfrm>
            <a:off x="4381500" y="3733800"/>
            <a:ext cx="3429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Jesus wept with her.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D0A5059-4E21-4535-8E19-0843EE77C638}"/>
              </a:ext>
            </a:extLst>
          </p:cNvPr>
          <p:cNvSpPr txBox="1"/>
          <p:nvPr/>
        </p:nvSpPr>
        <p:spPr>
          <a:xfrm>
            <a:off x="8039100" y="1809750"/>
            <a:ext cx="34290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III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EE0B815-C6A9-4D8E-8214-680BD3D824B1}"/>
              </a:ext>
            </a:extLst>
          </p:cNvPr>
          <p:cNvSpPr txBox="1"/>
          <p:nvPr/>
        </p:nvSpPr>
        <p:spPr>
          <a:xfrm>
            <a:off x="8039100" y="2057400"/>
            <a:ext cx="34290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D8C5A1"/>
                </a:solidFill>
                <a:latin typeface="Candara"/>
                <a:ea typeface="Candara"/>
              </a:rPr>
              <a:t>JOHN 12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D7A4FC1-B6FD-4117-A83C-9D2EC890F32A}"/>
              </a:ext>
            </a:extLst>
          </p:cNvPr>
          <p:cNvSpPr txBox="1"/>
          <p:nvPr/>
        </p:nvSpPr>
        <p:spPr>
          <a:xfrm>
            <a:off x="8039100" y="2343150"/>
            <a:ext cx="3429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She anointed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i="1">
                <a:solidFill>
                  <a:srgbClr val="C8A15E"/>
                </a:solidFill>
                <a:latin typeface="Georgia"/>
                <a:ea typeface="Georgia"/>
              </a:rPr>
              <a:t>at his feet.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2B337D6-44DF-497A-9B9E-35607E3F93D8}"/>
              </a:ext>
            </a:extLst>
          </p:cNvPr>
          <p:cNvSpPr txBox="1"/>
          <p:nvPr/>
        </p:nvSpPr>
        <p:spPr>
          <a:xfrm>
            <a:off x="8039100" y="3733800"/>
            <a:ext cx="3429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The room called it waste.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0459B15-F528-46DD-ADA7-8EAF2010C2FC}"/>
              </a:ext>
            </a:extLst>
          </p:cNvPr>
          <p:cNvSpPr txBox="1"/>
          <p:nvPr/>
        </p:nvSpPr>
        <p:spPr>
          <a:xfrm>
            <a:off x="723900" y="4857750"/>
            <a:ext cx="107442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i="1">
                <a:solidFill>
                  <a:srgbClr val="F4ECDC"/>
                </a:solidFill>
                <a:latin typeface="Georgia"/>
                <a:ea typeface="Georgia"/>
              </a:rPr>
              <a:t>The room was waiting for a crown.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800" i="1">
                <a:solidFill>
                  <a:srgbClr val="F4ECDC"/>
                </a:solidFill>
                <a:latin typeface="Georgia"/>
                <a:ea typeface="Georgia"/>
              </a:rPr>
              <a:t>Mary had been listening to a burial.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847D844-1492-4B5C-9C52-B9A3D96FAC3B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ABDA49A-755D-4A8A-AF01-3F886835B4E3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04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4668A81-F0E8-49EE-A5E4-2B5671840C48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04 · THE JAR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406A57B-A60E-4845-A2F4-7D37D112ED22}"/>
              </a:ext>
            </a:extLst>
          </p:cNvPr>
          <p:cNvSpPr txBox="1"/>
          <p:nvPr/>
        </p:nvSpPr>
        <p:spPr>
          <a:xfrm>
            <a:off x="9048750" y="495300"/>
            <a:ext cx="241935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JOHN 12:3–5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C65AFF-1569-4574-B36B-A6F2B3CE287E}"/>
              </a:ext>
            </a:extLst>
          </p:cNvPr>
          <p:cNvSpPr txBox="1"/>
          <p:nvPr/>
        </p:nvSpPr>
        <p:spPr>
          <a:xfrm>
            <a:off x="723900" y="914400"/>
            <a:ext cx="95250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>
                <a:solidFill>
                  <a:srgbClr val="F4ECDC"/>
                </a:solidFill>
                <a:latin typeface="Georgia"/>
                <a:ea typeface="Georgia"/>
              </a:rPr>
              <a:t>The jar that could not be saved.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75D2626-7D89-40A6-9027-D41EE37D81E9}"/>
              </a:ext>
            </a:extLst>
          </p:cNvPr>
          <p:cNvSpPr txBox="1"/>
          <p:nvPr/>
        </p:nvSpPr>
        <p:spPr>
          <a:xfrm>
            <a:off x="723900" y="1714500"/>
            <a:ext cx="4572000" cy="2857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600">
                <a:solidFill>
                  <a:srgbClr val="C8A15E"/>
                </a:solidFill>
                <a:latin typeface="Georgia"/>
                <a:ea typeface="Georgia"/>
              </a:rPr>
              <a:t>300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134B142-5745-4879-85A2-767D24A2F1F8}"/>
              </a:ext>
            </a:extLst>
          </p:cNvPr>
          <p:cNvSpPr txBox="1"/>
          <p:nvPr/>
        </p:nvSpPr>
        <p:spPr>
          <a:xfrm>
            <a:off x="781050" y="4572000"/>
            <a:ext cx="4381500" cy="5143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>
                <a:solidFill>
                  <a:srgbClr val="F4ECDC"/>
                </a:solidFill>
                <a:latin typeface="Georgia"/>
                <a:ea typeface="Georgia"/>
              </a:rPr>
              <a:t>denarii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F5504CC-F634-4FE9-8674-A2E8D36C8871}"/>
              </a:ext>
            </a:extLst>
          </p:cNvPr>
          <p:cNvSpPr txBox="1"/>
          <p:nvPr/>
        </p:nvSpPr>
        <p:spPr>
          <a:xfrm>
            <a:off x="781050" y="5086350"/>
            <a:ext cx="4381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B9AB90"/>
                </a:solidFill>
                <a:latin typeface="Candara"/>
                <a:ea typeface="Candara"/>
              </a:rPr>
              <a:t>roughly a year’s wages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ADD6C7-414D-4434-8CA0-3893C22DB939}"/>
              </a:ext>
            </a:extLst>
          </p:cNvPr>
          <p:cNvSpPr txBox="1"/>
          <p:nvPr/>
        </p:nvSpPr>
        <p:spPr>
          <a:xfrm>
            <a:off x="5715000" y="1809750"/>
            <a:ext cx="57531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>
                <a:solidFill>
                  <a:srgbClr val="F4ECDC"/>
                </a:solidFill>
                <a:latin typeface="Candara"/>
                <a:ea typeface="Candara"/>
              </a:rPr>
              <a:t>A sealed flask could have been opened slowly — a little now, the rest saved for later. Mary broke it. It could not be resealed. The whole year went out at once.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F762E68-70A5-478A-851B-BB91963BEDB2}"/>
              </a:ext>
            </a:extLst>
          </p:cNvPr>
          <p:cNvSpPr txBox="1"/>
          <p:nvPr/>
        </p:nvSpPr>
        <p:spPr>
          <a:xfrm>
            <a:off x="5715000" y="3714750"/>
            <a:ext cx="5753100" cy="1809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i="1">
                <a:solidFill>
                  <a:srgbClr val="C8A15E"/>
                </a:solidFill>
                <a:latin typeface="Georgia"/>
                <a:ea typeface="Georgia"/>
              </a:rPr>
              <a:t>She is not giving him a portion. She is giving him the container.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1EB426C-BF72-410B-A900-D7B0A1AF4986}"/>
              </a:ext>
            </a:extLst>
          </p:cNvPr>
          <p:cNvSpPr txBox="1"/>
          <p:nvPr/>
        </p:nvSpPr>
        <p:spPr>
          <a:xfrm>
            <a:off x="723900" y="5810250"/>
            <a:ext cx="95250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i="1">
                <a:solidFill>
                  <a:srgbClr val="B9AB90"/>
                </a:solidFill>
                <a:latin typeface="Georgia"/>
                <a:ea typeface="Georgia"/>
              </a:rPr>
              <a:t>The whole body. The whole jar. The whole year.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7AB499A-492A-4BDF-B151-1DACDEEA67DE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5E87421-B125-4B82-8543-CEA393E532FC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05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ABCCBA-10DD-49A0-A4E2-1AD9D8BD791A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05 · THE OBJECTION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E2F899-7812-4C2E-8656-389240CFBF00}"/>
              </a:ext>
            </a:extLst>
          </p:cNvPr>
          <p:cNvSpPr txBox="1"/>
          <p:nvPr/>
        </p:nvSpPr>
        <p:spPr>
          <a:xfrm>
            <a:off x="9048750" y="495300"/>
            <a:ext cx="241935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JOHN 12:4–6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A1BCE81-E1DF-47E0-B1E9-71021B707046}"/>
              </a:ext>
            </a:extLst>
          </p:cNvPr>
          <p:cNvSpPr txBox="1"/>
          <p:nvPr/>
        </p:nvSpPr>
        <p:spPr>
          <a:xfrm>
            <a:off x="723900" y="914400"/>
            <a:ext cx="8572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>
                <a:solidFill>
                  <a:srgbClr val="F4ECDC"/>
                </a:solidFill>
                <a:latin typeface="Georgia"/>
                <a:ea typeface="Georgia"/>
              </a:rPr>
              <a:t>The math in the room.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90B814-9F4B-4696-9F61-3FAB72EB76B0}"/>
              </a:ext>
            </a:extLst>
          </p:cNvPr>
          <p:cNvSpPr txBox="1"/>
          <p:nvPr/>
        </p:nvSpPr>
        <p:spPr>
          <a:xfrm>
            <a:off x="723900" y="1714500"/>
            <a:ext cx="51435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i="1">
                <a:solidFill>
                  <a:srgbClr val="F4ECDC"/>
                </a:solidFill>
                <a:latin typeface="Georgia"/>
                <a:ea typeface="Georgia"/>
              </a:rPr>
              <a:t>“Why was this ointment not sold for three hundred denarii and given to the poor?”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61B6A9B-6E03-42CC-A815-38C586C528AF}"/>
              </a:ext>
            </a:extLst>
          </p:cNvPr>
          <p:cNvSpPr txBox="1"/>
          <p:nvPr/>
        </p:nvSpPr>
        <p:spPr>
          <a:xfrm>
            <a:off x="723900" y="3448050"/>
            <a:ext cx="5143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JOHN 12:5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A80829F-B572-4947-BA1A-D8DE7C78B091}"/>
              </a:ext>
            </a:extLst>
          </p:cNvPr>
          <p:cNvSpPr txBox="1"/>
          <p:nvPr/>
        </p:nvSpPr>
        <p:spPr>
          <a:xfrm>
            <a:off x="6286500" y="1809750"/>
            <a:ext cx="5181600" cy="1047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i="1">
                <a:solidFill>
                  <a:srgbClr val="F4ECDC"/>
                </a:solidFill>
                <a:latin typeface="Georgia"/>
                <a:ea typeface="Georgia"/>
              </a:rPr>
              <a:t>It is a good question. That is what makes it dangerous.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12A394-9471-4E8B-B6AC-7AF396FDD30B}"/>
              </a:ext>
            </a:extLst>
          </p:cNvPr>
          <p:cNvSpPr txBox="1"/>
          <p:nvPr/>
        </p:nvSpPr>
        <p:spPr>
          <a:xfrm>
            <a:off x="6286500" y="2971800"/>
            <a:ext cx="51816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B9AB90"/>
                </a:solidFill>
                <a:latin typeface="Candara"/>
                <a:ea typeface="Candara"/>
              </a:rPr>
              <a:t>The most dangerous objections sound reasonable, moral, even spiritual.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5F8D2CD-96C1-47CF-94C2-0C77B94C0612}"/>
              </a:ext>
            </a:extLst>
          </p:cNvPr>
          <p:cNvSpPr/>
          <p:nvPr/>
        </p:nvSpPr>
        <p:spPr>
          <a:xfrm>
            <a:off x="723900" y="3714750"/>
            <a:ext cx="5181600" cy="1905000"/>
          </a:xfrm>
          <a:prstGeom prst="rect">
            <a:avLst/>
          </a:prstGeom>
          <a:solidFill>
            <a:srgbClr val="F4ECD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63CEA8A-865D-4661-9D60-287F14561E96}"/>
              </a:ext>
            </a:extLst>
          </p:cNvPr>
          <p:cNvSpPr txBox="1"/>
          <p:nvPr/>
        </p:nvSpPr>
        <p:spPr>
          <a:xfrm>
            <a:off x="990600" y="3943350"/>
            <a:ext cx="46482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A6A2F"/>
                </a:solidFill>
                <a:latin typeface="Candara"/>
                <a:ea typeface="Candara"/>
              </a:rPr>
              <a:t>MARY’S JAR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4BC097-419B-4815-9791-F24B8A73E66B}"/>
              </a:ext>
            </a:extLst>
          </p:cNvPr>
          <p:cNvSpPr txBox="1"/>
          <p:nvPr/>
        </p:nvSpPr>
        <p:spPr>
          <a:xfrm>
            <a:off x="990600" y="4171950"/>
            <a:ext cx="2857500" cy="1162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>
                <a:solidFill>
                  <a:srgbClr val="16233A"/>
                </a:solidFill>
                <a:latin typeface="Georgia"/>
                <a:ea typeface="Georgia"/>
              </a:rPr>
              <a:t>300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F5721C8-0BCD-4DD1-9C5A-DDCF1F1C4900}"/>
              </a:ext>
            </a:extLst>
          </p:cNvPr>
          <p:cNvSpPr txBox="1"/>
          <p:nvPr/>
        </p:nvSpPr>
        <p:spPr>
          <a:xfrm>
            <a:off x="990600" y="53530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4F483D"/>
                </a:solidFill>
                <a:latin typeface="Candara"/>
                <a:ea typeface="Candara"/>
              </a:rPr>
              <a:t>denarii · a year’s wages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3C0C468-37B8-45DB-A193-FA70710F08BB}"/>
              </a:ext>
            </a:extLst>
          </p:cNvPr>
          <p:cNvSpPr/>
          <p:nvPr/>
        </p:nvSpPr>
        <p:spPr>
          <a:xfrm>
            <a:off x="6286500" y="3714750"/>
            <a:ext cx="5181600" cy="1905000"/>
          </a:xfrm>
          <a:prstGeom prst="rect">
            <a:avLst/>
          </a:prstGeom>
          <a:solidFill>
            <a:srgbClr val="172741"/>
          </a:solidFill>
          <a:ln w="12700">
            <a:solidFill>
              <a:srgbClr val="34435C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B1C8F00-CAA7-444A-BE89-CFD61761AA89}"/>
              </a:ext>
            </a:extLst>
          </p:cNvPr>
          <p:cNvSpPr txBox="1"/>
          <p:nvPr/>
        </p:nvSpPr>
        <p:spPr>
          <a:xfrm>
            <a:off x="6553200" y="3943350"/>
            <a:ext cx="46482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8A15E"/>
                </a:solidFill>
                <a:latin typeface="Candara"/>
                <a:ea typeface="Candara"/>
              </a:rPr>
              <a:t>JUDAS’ PRICE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9DDEE26-BACD-488F-952C-27942B8D09EB}"/>
              </a:ext>
            </a:extLst>
          </p:cNvPr>
          <p:cNvSpPr txBox="1"/>
          <p:nvPr/>
        </p:nvSpPr>
        <p:spPr>
          <a:xfrm>
            <a:off x="6553200" y="4171950"/>
            <a:ext cx="2857500" cy="11620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600">
                <a:solidFill>
                  <a:srgbClr val="C8A15E"/>
                </a:solidFill>
                <a:latin typeface="Georgia"/>
                <a:ea typeface="Georgia"/>
              </a:rPr>
              <a:t>30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D6D467E-0E9F-41B6-A995-B25E86969DA5}"/>
              </a:ext>
            </a:extLst>
          </p:cNvPr>
          <p:cNvSpPr txBox="1"/>
          <p:nvPr/>
        </p:nvSpPr>
        <p:spPr>
          <a:xfrm>
            <a:off x="6553200" y="53530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D8C5A1"/>
                </a:solidFill>
                <a:latin typeface="Candara"/>
                <a:ea typeface="Candara"/>
              </a:rPr>
              <a:t>pieces of silver · a slave’s price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6826930-09D1-489A-B634-BB8E8A033232}"/>
              </a:ext>
            </a:extLst>
          </p:cNvPr>
          <p:cNvSpPr txBox="1"/>
          <p:nvPr/>
        </p:nvSpPr>
        <p:spPr>
          <a:xfrm>
            <a:off x="723900" y="5772150"/>
            <a:ext cx="10744200" cy="533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>
                <a:solidFill>
                  <a:srgbClr val="B9AB90"/>
                </a:solidFill>
                <a:latin typeface="Candara"/>
                <a:ea typeface="Candara"/>
              </a:rPr>
              <a:t>Jesus is not dismissing the poor. He quotes Deuteronomy 15:11 — the verse that commands generosity — and answers the math.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E193753-DC71-4C39-ADCB-86F8C03C37DC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F6952FE-FA0A-4DDA-AA32-A7204DD749CB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06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04B3DD4-BFCC-457C-A3D2-ED0A6C11E4BC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06 · THE VERDICT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C854837-1036-4C09-B643-5B6C967051E5}"/>
              </a:ext>
            </a:extLst>
          </p:cNvPr>
          <p:cNvSpPr txBox="1"/>
          <p:nvPr/>
        </p:nvSpPr>
        <p:spPr>
          <a:xfrm>
            <a:off x="9048750" y="495300"/>
            <a:ext cx="241935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MARK 14:6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7CCA78B-CCC8-42B0-A4E4-299C414A68CA}"/>
              </a:ext>
            </a:extLst>
          </p:cNvPr>
          <p:cNvSpPr txBox="1"/>
          <p:nvPr/>
        </p:nvSpPr>
        <p:spPr>
          <a:xfrm>
            <a:off x="723900" y="1809750"/>
            <a:ext cx="107442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0">
                <a:solidFill>
                  <a:srgbClr val="7F8B9F"/>
                </a:solidFill>
                <a:latin typeface="Georgia"/>
                <a:ea typeface="Georgia"/>
              </a:rPr>
              <a:t>The room called it waste.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B19AE2B-9264-40BC-AB8D-FE8C499F809D}"/>
              </a:ext>
            </a:extLst>
          </p:cNvPr>
          <p:cNvSpPr txBox="1"/>
          <p:nvPr/>
        </p:nvSpPr>
        <p:spPr>
          <a:xfrm>
            <a:off x="723900" y="3048000"/>
            <a:ext cx="107442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0" i="1">
                <a:solidFill>
                  <a:srgbClr val="C8A15E"/>
                </a:solidFill>
                <a:latin typeface="Georgia"/>
                <a:ea typeface="Georgia"/>
              </a:rPr>
              <a:t>Jesus called it beautiful.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B1777C4-B2DA-44E2-8747-A4D572EE7E9C}"/>
              </a:ext>
            </a:extLst>
          </p:cNvPr>
          <p:cNvSpPr txBox="1"/>
          <p:nvPr/>
        </p:nvSpPr>
        <p:spPr>
          <a:xfrm>
            <a:off x="723900" y="4667250"/>
            <a:ext cx="90487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B9AB90"/>
                </a:solidFill>
                <a:latin typeface="Candara"/>
                <a:ea typeface="Candara"/>
              </a:rPr>
              <a:t>Same act. Two judgments. One of them is true.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F56B246-3AD2-4738-B2AC-1A13265F3A91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8108981-FF41-4829-B3DB-C14803857506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07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227905B-CFFF-4A4D-A9B5-0FA22658E6FE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07 · THE BURIAL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FFAF508-DD8A-412C-90E8-965274905876}"/>
              </a:ext>
            </a:extLst>
          </p:cNvPr>
          <p:cNvSpPr txBox="1"/>
          <p:nvPr/>
        </p:nvSpPr>
        <p:spPr>
          <a:xfrm>
            <a:off x="8763000" y="495300"/>
            <a:ext cx="270510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THE PASSOVER LAMB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CAAF82-B624-4395-A8DD-703B3DB10614}"/>
              </a:ext>
            </a:extLst>
          </p:cNvPr>
          <p:cNvSpPr txBox="1"/>
          <p:nvPr/>
        </p:nvSpPr>
        <p:spPr>
          <a:xfrm>
            <a:off x="723900" y="914400"/>
            <a:ext cx="85725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>
                <a:solidFill>
                  <a:srgbClr val="F4ECDC"/>
                </a:solidFill>
                <a:latin typeface="Georgia"/>
                <a:ea typeface="Georgia"/>
              </a:rPr>
              <a:t>She prepared him for a funeral.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525A9A4-A92B-4516-BC8C-11C9EA67FD9D}"/>
              </a:ext>
            </a:extLst>
          </p:cNvPr>
          <p:cNvSpPr txBox="1"/>
          <p:nvPr/>
        </p:nvSpPr>
        <p:spPr>
          <a:xfrm>
            <a:off x="723900" y="1905000"/>
            <a:ext cx="80010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i="1">
                <a:solidFill>
                  <a:srgbClr val="F4ECDC"/>
                </a:solidFill>
                <a:latin typeface="Georgia"/>
                <a:ea typeface="Georgia"/>
              </a:rPr>
              <a:t>“She has anointed my body beforehand for burial.”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E4AD6F-E71F-4EEE-A85D-01A3CAD0E20D}"/>
              </a:ext>
            </a:extLst>
          </p:cNvPr>
          <p:cNvSpPr txBox="1"/>
          <p:nvPr/>
        </p:nvSpPr>
        <p:spPr>
          <a:xfrm>
            <a:off x="723900" y="3429000"/>
            <a:ext cx="51435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8A15E"/>
                </a:solidFill>
                <a:latin typeface="Candara"/>
                <a:ea typeface="Candara"/>
              </a:rPr>
              <a:t>MARK 14:8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E33D5C3-ADD5-40F3-848C-758A4344AE66}"/>
              </a:ext>
            </a:extLst>
          </p:cNvPr>
          <p:cNvSpPr/>
          <p:nvPr/>
        </p:nvSpPr>
        <p:spPr>
          <a:xfrm>
            <a:off x="9944100" y="1714500"/>
            <a:ext cx="76200" cy="2095500"/>
          </a:xfrm>
          <a:prstGeom prst="rect">
            <a:avLst/>
          </a:prstGeom>
          <a:solidFill>
            <a:srgbClr val="C8A1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9878D10-EB84-4E48-91CE-DE8162170E5E}"/>
              </a:ext>
            </a:extLst>
          </p:cNvPr>
          <p:cNvSpPr/>
          <p:nvPr/>
        </p:nvSpPr>
        <p:spPr>
          <a:xfrm>
            <a:off x="9429750" y="2286000"/>
            <a:ext cx="1104900" cy="76200"/>
          </a:xfrm>
          <a:prstGeom prst="rect">
            <a:avLst/>
          </a:prstGeom>
          <a:solidFill>
            <a:srgbClr val="C8A15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9E202F9-31F5-46F1-B5F1-280B362356CD}"/>
              </a:ext>
            </a:extLst>
          </p:cNvPr>
          <p:cNvSpPr txBox="1"/>
          <p:nvPr/>
        </p:nvSpPr>
        <p:spPr>
          <a:xfrm>
            <a:off x="723900" y="3905250"/>
            <a:ext cx="107442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>
                <a:solidFill>
                  <a:srgbClr val="F4ECDC"/>
                </a:solidFill>
                <a:latin typeface="Georgia"/>
                <a:ea typeface="Georgia"/>
              </a:rPr>
              <a:t>The room awaited a crown. Mary prepared a burial.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DFA58BA-7871-454A-8757-17F67C8A067D}"/>
              </a:ext>
            </a:extLst>
          </p:cNvPr>
          <p:cNvSpPr txBox="1"/>
          <p:nvPr/>
        </p:nvSpPr>
        <p:spPr>
          <a:xfrm>
            <a:off x="723900" y="4667250"/>
            <a:ext cx="107442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i="1">
                <a:solidFill>
                  <a:srgbClr val="C8A15E"/>
                </a:solidFill>
                <a:latin typeface="Georgia"/>
                <a:ea typeface="Georgia"/>
              </a:rPr>
              <a:t>The cross is love without calculation.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3A9EBE2-B7FD-4D7E-822B-8241AA767832}"/>
              </a:ext>
            </a:extLst>
          </p:cNvPr>
          <p:cNvSpPr txBox="1"/>
          <p:nvPr/>
        </p:nvSpPr>
        <p:spPr>
          <a:xfrm>
            <a:off x="723900" y="5619750"/>
            <a:ext cx="90487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B9AB90"/>
                </a:solidFill>
                <a:latin typeface="Candara"/>
                <a:ea typeface="Candara"/>
              </a:rPr>
              <a:t>The passion begins at a dinner table.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CE99E6-1D79-4B02-88A6-6636A6C4FB81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0786310-5377-4F4B-B1F0-FCA05FA0469D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08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D557470-3783-4A03-88EE-59FEFDEDEEB6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08 · THE GOSPEL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93C0609-1448-4099-8780-5880F75E50B8}"/>
              </a:ext>
            </a:extLst>
          </p:cNvPr>
          <p:cNvSpPr txBox="1"/>
          <p:nvPr/>
        </p:nvSpPr>
        <p:spPr>
          <a:xfrm>
            <a:off x="9048750" y="495300"/>
            <a:ext cx="241935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MATTHEW 28:6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B587043-A117-4127-8FC8-975C0E50169E}"/>
              </a:ext>
            </a:extLst>
          </p:cNvPr>
          <p:cNvSpPr/>
          <p:nvPr/>
        </p:nvSpPr>
        <p:spPr>
          <a:xfrm>
            <a:off x="723900" y="1143000"/>
            <a:ext cx="10744200" cy="2381250"/>
          </a:xfrm>
          <a:prstGeom prst="rect">
            <a:avLst/>
          </a:prstGeom>
          <a:solidFill>
            <a:srgbClr val="F4ECD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888D71A-6FFB-4636-A328-AA0D032B9149}"/>
              </a:ext>
            </a:extLst>
          </p:cNvPr>
          <p:cNvSpPr txBox="1"/>
          <p:nvPr/>
        </p:nvSpPr>
        <p:spPr>
          <a:xfrm>
            <a:off x="1028700" y="1524000"/>
            <a:ext cx="101346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400" i="1">
                <a:solidFill>
                  <a:srgbClr val="16233A"/>
                </a:solidFill>
                <a:latin typeface="Georgia"/>
                <a:ea typeface="Georgia"/>
              </a:rPr>
              <a:t>He is not here; he has risen.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2A76B17-7CCD-4445-8772-AD31CB01FE72}"/>
              </a:ext>
            </a:extLst>
          </p:cNvPr>
          <p:cNvSpPr txBox="1"/>
          <p:nvPr/>
        </p:nvSpPr>
        <p:spPr>
          <a:xfrm>
            <a:off x="1028700" y="2590800"/>
            <a:ext cx="10134600" cy="3048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6A5836"/>
                </a:solidFill>
                <a:latin typeface="Candara"/>
                <a:ea typeface="Candara"/>
              </a:rPr>
              <a:t>The tomb was empty. The burial was not the end.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FC1C4E9-446F-4166-A01C-1B413A32E46B}"/>
              </a:ext>
            </a:extLst>
          </p:cNvPr>
          <p:cNvSpPr txBox="1"/>
          <p:nvPr/>
        </p:nvSpPr>
        <p:spPr>
          <a:xfrm>
            <a:off x="723900" y="4095750"/>
            <a:ext cx="107442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>
                <a:solidFill>
                  <a:srgbClr val="F4ECDC"/>
                </a:solidFill>
                <a:latin typeface="Georgia"/>
                <a:ea typeface="Georgia"/>
              </a:rPr>
              <a:t>He did not come for the room that got it right.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i="1">
                <a:solidFill>
                  <a:srgbClr val="C8A15E"/>
                </a:solidFill>
                <a:latin typeface="Georgia"/>
                <a:ea typeface="Georgia"/>
              </a:rPr>
              <a:t>He came for the room that got it wrong.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05E087D-9E95-42F7-A3D2-44E103BA2818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308F991-DAE1-4CEA-B4D9-281FA02D8F9E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09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1590679-2189-4895-942B-1AB10BEF7683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09 · THE RESPONSE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D7624A7-DFC8-4462-B09D-45AE80ADB5C6}"/>
              </a:ext>
            </a:extLst>
          </p:cNvPr>
          <p:cNvSpPr txBox="1"/>
          <p:nvPr/>
        </p:nvSpPr>
        <p:spPr>
          <a:xfrm>
            <a:off x="8763000" y="495300"/>
            <a:ext cx="270510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FOUR RESPONSES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9E5A5D7-8C5F-48A7-9CCC-9022641FABF0}"/>
              </a:ext>
            </a:extLst>
          </p:cNvPr>
          <p:cNvSpPr txBox="1"/>
          <p:nvPr/>
        </p:nvSpPr>
        <p:spPr>
          <a:xfrm>
            <a:off x="723900" y="914400"/>
            <a:ext cx="8572500" cy="800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>
                <a:solidFill>
                  <a:srgbClr val="F4ECDC"/>
                </a:solidFill>
                <a:latin typeface="Georgia"/>
                <a:ea typeface="Georgia"/>
              </a:rPr>
              <a:t>What do you do with the jar?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F619546-9626-45BD-B452-761DB95641C3}"/>
              </a:ext>
            </a:extLst>
          </p:cNvPr>
          <p:cNvSpPr txBox="1"/>
          <p:nvPr/>
        </p:nvSpPr>
        <p:spPr>
          <a:xfrm>
            <a:off x="723900" y="1809750"/>
            <a:ext cx="51054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1739039-F506-4EED-A1AF-782E832F8A06}"/>
              </a:ext>
            </a:extLst>
          </p:cNvPr>
          <p:cNvSpPr txBox="1"/>
          <p:nvPr/>
        </p:nvSpPr>
        <p:spPr>
          <a:xfrm>
            <a:off x="723900" y="2057400"/>
            <a:ext cx="51054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F4ECDC"/>
                </a:solidFill>
                <a:latin typeface="Georgia"/>
                <a:ea typeface="Georgia"/>
              </a:rPr>
              <a:t>Name the jar.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7A796B-B40A-454F-BFA9-C60C674E5F28}"/>
              </a:ext>
            </a:extLst>
          </p:cNvPr>
          <p:cNvSpPr txBox="1"/>
          <p:nvPr/>
        </p:nvSpPr>
        <p:spPr>
          <a:xfrm>
            <a:off x="723900" y="3009900"/>
            <a:ext cx="51054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B9AB90"/>
                </a:solidFill>
                <a:latin typeface="Candara"/>
                <a:ea typeface="Candara"/>
              </a:rPr>
              <a:t>Say it plainly to God. You cannot break what you will not name.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59DDB6B-D47D-4C71-9399-CB362C66DF38}"/>
              </a:ext>
            </a:extLst>
          </p:cNvPr>
          <p:cNvSpPr txBox="1"/>
          <p:nvPr/>
        </p:nvSpPr>
        <p:spPr>
          <a:xfrm>
            <a:off x="6362700" y="1809750"/>
            <a:ext cx="51054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02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BDC3F67-E5BB-4DE2-8E1B-922C246B2A29}"/>
              </a:ext>
            </a:extLst>
          </p:cNvPr>
          <p:cNvSpPr txBox="1"/>
          <p:nvPr/>
        </p:nvSpPr>
        <p:spPr>
          <a:xfrm>
            <a:off x="6362700" y="2057400"/>
            <a:ext cx="51054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F4ECDC"/>
                </a:solidFill>
                <a:latin typeface="Georgia"/>
                <a:ea typeface="Georgia"/>
              </a:rPr>
              <a:t>Do one uncalculated act.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4550925-FE3A-451D-9F40-783A6AE48163}"/>
              </a:ext>
            </a:extLst>
          </p:cNvPr>
          <p:cNvSpPr txBox="1"/>
          <p:nvPr/>
        </p:nvSpPr>
        <p:spPr>
          <a:xfrm>
            <a:off x="6362700" y="3009900"/>
            <a:ext cx="51054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B9AB90"/>
                </a:solidFill>
                <a:latin typeface="Candara"/>
                <a:ea typeface="Candara"/>
              </a:rPr>
              <a:t>One thing this week that only makes sense if Jesus is who he says he is.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28331FF-AC1B-4B36-BC48-9BD8A4F4EB25}"/>
              </a:ext>
            </a:extLst>
          </p:cNvPr>
          <p:cNvSpPr txBox="1"/>
          <p:nvPr/>
        </p:nvSpPr>
        <p:spPr>
          <a:xfrm>
            <a:off x="723900" y="3810000"/>
            <a:ext cx="51054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03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0588673-B4A8-4964-A3D3-B8BE403E27E4}"/>
              </a:ext>
            </a:extLst>
          </p:cNvPr>
          <p:cNvSpPr txBox="1"/>
          <p:nvPr/>
        </p:nvSpPr>
        <p:spPr>
          <a:xfrm>
            <a:off x="723900" y="4057650"/>
            <a:ext cx="51054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F4ECDC"/>
                </a:solidFill>
                <a:latin typeface="Georgia"/>
                <a:ea typeface="Georgia"/>
              </a:rPr>
              <a:t>Stop auditing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F4ECDC"/>
                </a:solidFill>
                <a:latin typeface="Georgia"/>
                <a:ea typeface="Georgia"/>
              </a:rPr>
              <a:t>someone else’s devotion.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FBF1C5B-EA59-4346-8819-B6B7F2BBB382}"/>
              </a:ext>
            </a:extLst>
          </p:cNvPr>
          <p:cNvSpPr txBox="1"/>
          <p:nvPr/>
        </p:nvSpPr>
        <p:spPr>
          <a:xfrm>
            <a:off x="723900" y="5010150"/>
            <a:ext cx="51054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B9AB90"/>
                </a:solidFill>
                <a:latin typeface="Candara"/>
                <a:ea typeface="Candara"/>
              </a:rPr>
              <a:t>You are not the auditor of another person’s love.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12D94C8-BCA5-4365-9677-6B9728445530}"/>
              </a:ext>
            </a:extLst>
          </p:cNvPr>
          <p:cNvSpPr txBox="1"/>
          <p:nvPr/>
        </p:nvSpPr>
        <p:spPr>
          <a:xfrm>
            <a:off x="6362700" y="3810000"/>
            <a:ext cx="51054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8A15E"/>
                </a:solidFill>
                <a:latin typeface="Candara"/>
                <a:ea typeface="Candara"/>
              </a:rPr>
              <a:t>04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A6D828F-9927-458D-BE43-8A4B2DC8461B}"/>
              </a:ext>
            </a:extLst>
          </p:cNvPr>
          <p:cNvSpPr txBox="1"/>
          <p:nvPr/>
        </p:nvSpPr>
        <p:spPr>
          <a:xfrm>
            <a:off x="6362700" y="4057650"/>
            <a:ext cx="51054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>
                <a:solidFill>
                  <a:srgbClr val="F4ECDC"/>
                </a:solidFill>
                <a:latin typeface="Georgia"/>
                <a:ea typeface="Georgia"/>
              </a:rPr>
              <a:t>Make room for grief.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3E5688D-9FE7-431F-AE0B-72597EC85E40}"/>
              </a:ext>
            </a:extLst>
          </p:cNvPr>
          <p:cNvSpPr txBox="1"/>
          <p:nvPr/>
        </p:nvSpPr>
        <p:spPr>
          <a:xfrm>
            <a:off x="6362700" y="5010150"/>
            <a:ext cx="51054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B9AB90"/>
                </a:solidFill>
                <a:latin typeface="Candara"/>
                <a:ea typeface="Candara"/>
              </a:rPr>
              <a:t>Jesus wept. There is room at his feet for your tears.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FB7A3C2-B0B9-4BEE-B4AA-F3B1C087A069}"/>
              </a:ext>
            </a:extLst>
          </p:cNvPr>
          <p:cNvSpPr txBox="1"/>
          <p:nvPr/>
        </p:nvSpPr>
        <p:spPr>
          <a:xfrm>
            <a:off x="723900" y="5905500"/>
            <a:ext cx="8572500" cy="342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i="1">
                <a:solidFill>
                  <a:srgbClr val="C8A15E"/>
                </a:solidFill>
                <a:latin typeface="Georgia"/>
                <a:ea typeface="Georgia"/>
              </a:rPr>
              <a:t>You cannot manufacture this kind of love.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71FDBDE-CC52-4FFF-84E8-7CAED75903BC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508DD84-E8D4-480B-AD2C-BAA628986723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10 /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92314A8-0399-4754-82B9-D388005B5B3C}"/>
              </a:ext>
            </a:extLst>
          </p:cNvPr>
          <p:cNvSpPr txBox="1"/>
          <p:nvPr/>
        </p:nvSpPr>
        <p:spPr>
          <a:xfrm>
            <a:off x="723900" y="495300"/>
            <a:ext cx="61912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8A15E"/>
                </a:solidFill>
                <a:latin typeface="Candara"/>
                <a:ea typeface="Candara"/>
              </a:rPr>
              <a:t>10 · THE INVITATION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7644E68-C008-4530-8BC1-81FFE965B5A2}"/>
              </a:ext>
            </a:extLst>
          </p:cNvPr>
          <p:cNvSpPr txBox="1"/>
          <p:nvPr/>
        </p:nvSpPr>
        <p:spPr>
          <a:xfrm>
            <a:off x="9048750" y="495300"/>
            <a:ext cx="2419350" cy="20955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8F9AAB"/>
                </a:solidFill>
                <a:latin typeface="Candara"/>
                <a:ea typeface="Candara"/>
              </a:rPr>
              <a:t>JOHN 12:1–8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36A0B9A-76BD-46F1-8188-530A4601DE25}"/>
              </a:ext>
            </a:extLst>
          </p:cNvPr>
          <p:cNvSpPr txBox="1"/>
          <p:nvPr/>
        </p:nvSpPr>
        <p:spPr>
          <a:xfrm>
            <a:off x="723900" y="1524000"/>
            <a:ext cx="10744200" cy="2095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400">
                <a:solidFill>
                  <a:srgbClr val="F4ECDC"/>
                </a:solidFill>
                <a:latin typeface="Georgia"/>
                <a:ea typeface="Georgia"/>
              </a:rPr>
              <a:t>Come </a:t>
            </a:r>
            <a:r>
              <a:rPr sz="10400" i="1">
                <a:solidFill>
                  <a:srgbClr val="C8A15E"/>
                </a:solidFill>
                <a:latin typeface="Georgia"/>
                <a:ea typeface="Georgia"/>
              </a:rPr>
              <a:t>closer.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9394240-0924-4DB9-9FF3-E8AD73E2783D}"/>
              </a:ext>
            </a:extLst>
          </p:cNvPr>
          <p:cNvSpPr txBox="1"/>
          <p:nvPr/>
        </p:nvSpPr>
        <p:spPr>
          <a:xfrm>
            <a:off x="1714500" y="3905250"/>
            <a:ext cx="8763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600">
                <a:solidFill>
                  <a:srgbClr val="F4ECDC"/>
                </a:solidFill>
                <a:latin typeface="Candara"/>
                <a:ea typeface="Candara"/>
              </a:rPr>
              <a:t>Not try harder. Not be more generous. Come closer to the one who did not calculate.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1FAAF30-8445-4CFA-A87F-73D6710F0E45}"/>
              </a:ext>
            </a:extLst>
          </p:cNvPr>
          <p:cNvSpPr txBox="1"/>
          <p:nvPr/>
        </p:nvSpPr>
        <p:spPr>
          <a:xfrm>
            <a:off x="1333500" y="5143500"/>
            <a:ext cx="9525000" cy="952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i="1">
                <a:solidFill>
                  <a:srgbClr val="B9AB90"/>
                </a:solidFill>
                <a:latin typeface="Georgia"/>
                <a:ea typeface="Georgia"/>
              </a:rPr>
              <a:t>You can come back. You can open your hands.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200" i="1">
                <a:solidFill>
                  <a:srgbClr val="B9AB90"/>
                </a:solidFill>
                <a:latin typeface="Georgia"/>
                <a:ea typeface="Georgia"/>
              </a:rPr>
              <a:t>You can let him answer for you. You can stay.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21084AC-1826-4E45-9022-B00E9A05271F}"/>
              </a:ext>
            </a:extLst>
          </p:cNvPr>
          <p:cNvSpPr txBox="1"/>
          <p:nvPr/>
        </p:nvSpPr>
        <p:spPr>
          <a:xfrm>
            <a:off x="723900" y="6438900"/>
            <a:ext cx="6667500" cy="190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66748B"/>
                </a:solidFill>
                <a:latin typeface="Candara"/>
                <a:ea typeface="Candara"/>
              </a:rPr>
              <a:t>PREACH THE FORGOTTEN · SERMON KIT 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7F84297-B17D-4A5F-A281-460297869B14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11 /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7F328BD-EE19-44AE-8239-231C239DC7F7}"/>
              </a:ext>
            </a:extLst>
          </p:cNvPr>
          <p:cNvPicPr/>
          <p:nvPr/>
        </p:nvPicPr>
        <p:blipFill>
          <a:blip r:embed="rId2"/>
          <a:srcRect t="31131" b="311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1D510C76-B2FA-4623-BD0D-1F7892B0B3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3">
              <a:alpha val="80000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D842E86-852A-43F8-B27F-37BF23C405F6}"/>
              </a:ext>
            </a:extLst>
          </p:cNvPr>
          <p:cNvSpPr txBox="1"/>
          <p:nvPr/>
        </p:nvSpPr>
        <p:spPr>
          <a:xfrm>
            <a:off x="1333500" y="495300"/>
            <a:ext cx="9525000" cy="2286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>
                <a:solidFill>
                  <a:srgbClr val="C8A15E"/>
                </a:solidFill>
                <a:latin typeface="Candara"/>
                <a:ea typeface="Candara"/>
              </a:rPr>
              <a:t>SILENCED SAINTS · PREACH THE FORGOTTEN · SERMON KIT 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161265-B980-4604-BA15-C80B6CE6D019}"/>
              </a:ext>
            </a:extLst>
          </p:cNvPr>
          <p:cNvSpPr txBox="1"/>
          <p:nvPr/>
        </p:nvSpPr>
        <p:spPr>
          <a:xfrm>
            <a:off x="1333500" y="1676400"/>
            <a:ext cx="9525000" cy="2381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>
                <a:solidFill>
                  <a:srgbClr val="F4ECDC"/>
                </a:solidFill>
                <a:latin typeface="Georgia"/>
                <a:ea typeface="Georgia"/>
              </a:rPr>
              <a:t>She broke the jar.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5400">
                <a:solidFill>
                  <a:srgbClr val="F4ECDC"/>
                </a:solidFill>
                <a:latin typeface="Georgia"/>
                <a:ea typeface="Georgia"/>
              </a:rPr>
              <a:t>He emptied the tomb.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218B6A0-8DB3-4922-8474-81863400C22A}"/>
              </a:ext>
            </a:extLst>
          </p:cNvPr>
          <p:cNvSpPr txBox="1"/>
          <p:nvPr/>
        </p:nvSpPr>
        <p:spPr>
          <a:xfrm>
            <a:off x="1333500" y="4248150"/>
            <a:ext cx="9525000" cy="4762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i="1">
                <a:solidFill>
                  <a:srgbClr val="C8A15E"/>
                </a:solidFill>
                <a:latin typeface="Georgia"/>
                <a:ea typeface="Georgia"/>
              </a:rPr>
              <a:t>And he made sure she would never be forgotten.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8419407-BB23-46D9-8347-AC2B6371BB2A}"/>
              </a:ext>
            </a:extLst>
          </p:cNvPr>
          <p:cNvSpPr txBox="1"/>
          <p:nvPr/>
        </p:nvSpPr>
        <p:spPr>
          <a:xfrm>
            <a:off x="1333500" y="4953000"/>
            <a:ext cx="9525000" cy="7620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000">
                <a:solidFill>
                  <a:srgbClr val="F4ECDC"/>
                </a:solidFill>
                <a:latin typeface="Candara"/>
                <a:ea typeface="Candara"/>
              </a:rPr>
              <a:t>Wherever the gospel is preached, she is still here. May the same be said of us.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177D3A-6D1C-409E-A9B9-CCF473362480}"/>
              </a:ext>
            </a:extLst>
          </p:cNvPr>
          <p:cNvSpPr txBox="1"/>
          <p:nvPr/>
        </p:nvSpPr>
        <p:spPr>
          <a:xfrm>
            <a:off x="1333500" y="6153150"/>
            <a:ext cx="9525000" cy="2095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>
                <a:solidFill>
                  <a:srgbClr val="8F9AAB"/>
                </a:solidFill>
                <a:latin typeface="Candara"/>
                <a:ea typeface="Candara"/>
              </a:rPr>
              <a:t>FIRST EDITION · OCTOBER 2026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66CA54-A306-4A58-A68E-13C62277A467}"/>
              </a:ext>
            </a:extLst>
          </p:cNvPr>
          <p:cNvSpPr txBox="1"/>
          <p:nvPr/>
        </p:nvSpPr>
        <p:spPr>
          <a:xfrm>
            <a:off x="10477500" y="6438900"/>
            <a:ext cx="990600" cy="190500"/>
          </a:xfrm>
        </p:spPr>
        <p:txBody>
          <a:bodyPr wrap="square" rtlCol="0" lIns="0" tIns="0" rIns="0" bIns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C8A15E"/>
                </a:solidFill>
                <a:latin typeface="Candara"/>
                <a:ea typeface="Candara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